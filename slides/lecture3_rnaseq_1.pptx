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319" r:id="rId5"/>
    <p:sldId id="259" r:id="rId6"/>
    <p:sldId id="317" r:id="rId7"/>
    <p:sldId id="293" r:id="rId8"/>
    <p:sldId id="275" r:id="rId9"/>
    <p:sldId id="261" r:id="rId10"/>
    <p:sldId id="320" r:id="rId11"/>
    <p:sldId id="265" r:id="rId12"/>
    <p:sldId id="262" r:id="rId13"/>
    <p:sldId id="263" r:id="rId14"/>
    <p:sldId id="264" r:id="rId15"/>
    <p:sldId id="266" r:id="rId16"/>
    <p:sldId id="269" r:id="rId17"/>
    <p:sldId id="276" r:id="rId18"/>
    <p:sldId id="3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570"/>
    <p:restoredTop sz="85000"/>
  </p:normalViewPr>
  <p:slideViewPr>
    <p:cSldViewPr snapToGrid="0">
      <p:cViewPr varScale="1">
        <p:scale>
          <a:sx n="76" d="100"/>
          <a:sy n="76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0625-CAB2-8B44-A5D0-3C96DACBB7A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87754-0EBA-6D42-BD33-8813669E2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6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lifelab.github.io/courses/ngsintro/1905/slides/rnaseq/presentation.html#18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87754-0EBA-6D42-BD33-8813669E26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75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https://scilifelab.github.io/courses/ngsintro/1905/slides/rnaseq/presentation.html#18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F0606C-1CED-4A1E-9F28-73D3EDD76367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32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Millions of reads</a:t>
            </a:r>
          </a:p>
          <a:p>
            <a:r>
              <a:rPr lang="en-US" dirty="0"/>
              <a:t>- Consider depth, coverage, complexity of genome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5FE52-5545-CB42-BC82-2EB5258EE5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13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87754-0EBA-6D42-BD33-8813669E268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6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19AD-2BD1-F73E-3B61-90274DCA9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0F11B-6568-DF3B-64D6-60578FE1E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DB0D-3A54-C017-D633-14552F8A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6AAE4-F7DF-31E8-2CF5-6DEF3036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9BD7E-1D4F-3BBB-2CEE-D7F0D669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9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385A5-D113-C873-B867-0D7C142A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5687A-B1F3-75D1-EE1E-99EAF74BB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B9568-AF34-89F9-6F0E-1C4FAAFA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7B8A9-1BC3-D458-28AA-5158F302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8A8CD-F2EE-A271-EFFD-76529541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CD26-F6C5-E41E-FE5D-F26A7D2C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83044-437D-3748-9025-6B48F5E7A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B70B-9FF8-70D8-CDFF-369F6524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0962C-5400-C789-F76F-972AC698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E82C-FD12-AEBB-B5FD-8302BF66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7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0E2D-DAAE-2B1F-F699-7E8768E8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833E5-5DF1-2AB1-17DD-DE3479206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E9E12-428C-4E31-1248-841DA005C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2CDA1-4219-E5AC-2CAC-37BF4317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7FC45-D5E6-8CF7-EC8A-70DAE495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77D2A-92AD-1F64-5AC6-436103D1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7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4900-30BC-1C7D-079B-2108AF8D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0224F-79D6-84F4-2AE8-5CBDB6D9E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804C7-E8A8-9B1D-0FB5-6EFA698ED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9CD3F-9C4E-3925-04CB-402492B59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BC237-CC59-1A89-C663-C1387681D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1FACE-9EAC-4F9C-C5B4-304EF02B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E8442-3851-A5D1-3FDF-AC747D79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61169-CBC6-DEB8-6AF3-71311FC6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43CC-48D9-8C5B-D170-379AA73A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D67FBC-6296-04FE-5E16-4B5A2240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79385-A1C8-B37D-025F-E0FB5B4D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06253-C607-07F5-D642-5CDA33DB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6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5ECAB-4645-2057-13D5-66772FB1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AAE6E-3568-D810-9508-FCB746DE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CC478-5559-90EA-3725-AE42366B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5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FD46-A115-18EF-713A-00FF72A3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12364-2BF6-B0E4-CF7C-DA5BC9D7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01C70-384F-CE4A-EC48-28C7E8AA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DC82D-FB1B-6564-9CF4-CD21A96C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CEEFB-B913-D4C2-1C2A-D09BE3B2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79F93-9C28-1284-AB58-786C0BF8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2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609D-5730-8E02-86C1-F9994FE0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CA6BB-4ABA-A661-4345-510F4C081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9D1B5-E89A-AD1A-F8FA-4B1112F28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5037B-B098-B2D2-0286-85A6E116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1A255-D9B3-3380-E6F8-223E592C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6E6B2-24F6-F23A-A128-3C8CD86A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0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BB23-E1D4-22A4-A7E0-A83162FC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E078B-0165-3C0E-9627-272E849DB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94CE2-9B6D-DCBA-5ED7-4DA4C78A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863E2-AA1D-91E8-E6A1-C52520DB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7024C-6CF7-CB40-72F5-E1337E07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6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AA34C-E488-CBFC-EB7E-CA6B7322A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F4AC6-4D6C-D789-FBEA-71A520385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2A15F-9E30-CFFA-1972-FD3CB27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7F089-B52A-0247-B84F-CFAACAFC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A301C-F374-FCC8-8233-035C9E02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0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B8EA4-1985-E49B-294D-47C1D4F6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758B-C3B1-8659-FDB1-A8D8EF5B0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A1AF7-7D0F-182C-9445-A61E3E876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C7383-E899-8342-9479-EBCE39F9F48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C10-133C-E02F-C7F1-D2CBD143C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E0249-CDBA-A02E-419F-AFA592163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56592-17F6-5048-9529-481D59881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9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7E39-349D-8B8E-EC35-6CA64428F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27911-C03F-D5E1-4D3F-FD61FDCE2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Eleana Cabello</a:t>
            </a:r>
          </a:p>
        </p:txBody>
      </p:sp>
    </p:spTree>
    <p:extLst>
      <p:ext uri="{BB962C8B-B14F-4D97-AF65-F5344CB8AC3E}">
        <p14:creationId xmlns:p14="http://schemas.microsoft.com/office/powerpoint/2010/main" val="395949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F60B-02AE-63A3-5A7A-D881868A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started!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92A9B-CF4F-8E4D-691C-D197B955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Log on to OSCER via Terminal or </a:t>
            </a:r>
            <a:r>
              <a:rPr lang="en-US" sz="2000" dirty="0" err="1"/>
              <a:t>MobaXterm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Navigate to your scratch folder:  </a:t>
            </a:r>
            <a:r>
              <a:rPr lang="en-US" sz="2000" b="1" dirty="0"/>
              <a:t>cd /scratch/$USER</a:t>
            </a:r>
          </a:p>
          <a:p>
            <a:endParaRPr lang="en-US" sz="2000" dirty="0"/>
          </a:p>
          <a:p>
            <a:r>
              <a:rPr lang="en-US" sz="2000" dirty="0"/>
              <a:t>Copy lecture folder from /scratch/</a:t>
            </a:r>
            <a:r>
              <a:rPr lang="en-US" sz="2000" dirty="0" err="1"/>
              <a:t>elec</a:t>
            </a:r>
            <a:r>
              <a:rPr lang="en-US" sz="2000" dirty="0"/>
              <a:t>/lecture_3 :</a:t>
            </a:r>
            <a:r>
              <a:rPr lang="en-US" sz="2000" b="1" dirty="0"/>
              <a:t> cp –r /scratch/</a:t>
            </a:r>
            <a:r>
              <a:rPr lang="en-US" sz="2000" b="1" dirty="0" err="1"/>
              <a:t>elec</a:t>
            </a:r>
            <a:r>
              <a:rPr lang="en-US" sz="2000" b="1" dirty="0"/>
              <a:t>/lecture_3 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7F39A9-DD7D-A615-15B9-B7534ECA4466}"/>
              </a:ext>
            </a:extLst>
          </p:cNvPr>
          <p:cNvCxnSpPr>
            <a:cxnSpLocks/>
          </p:cNvCxnSpPr>
          <p:nvPr/>
        </p:nvCxnSpPr>
        <p:spPr>
          <a:xfrm flipV="1">
            <a:off x="9440263" y="3833492"/>
            <a:ext cx="477982" cy="914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619B64-9D46-8C47-BC1E-FD8F3A55BD82}"/>
              </a:ext>
            </a:extLst>
          </p:cNvPr>
          <p:cNvSpPr txBox="1"/>
          <p:nvPr/>
        </p:nvSpPr>
        <p:spPr>
          <a:xfrm>
            <a:off x="6929567" y="4908429"/>
            <a:ext cx="3827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dot means in current directory</a:t>
            </a:r>
          </a:p>
        </p:txBody>
      </p:sp>
    </p:spTree>
    <p:extLst>
      <p:ext uri="{BB962C8B-B14F-4D97-AF65-F5344CB8AC3E}">
        <p14:creationId xmlns:p14="http://schemas.microsoft.com/office/powerpoint/2010/main" val="57016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528E-3553-AFF2-74ED-D81E0F22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RNA-seq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42F13-FF98-7442-C093-9EEFC0DA3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1. Quality check the FASTQ files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2. Align FASTQ files to a reference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a. Build reference genome index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b. Align reads to reference genome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3. Convert SAM files to BAM files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a. Sort the SAM files - this produces sorted </a:t>
            </a:r>
            <a:r>
              <a:rPr lang="en-US" sz="2200" i="1" dirty="0"/>
              <a:t>.bam</a:t>
            </a:r>
            <a:r>
              <a:rPr lang="en-US" sz="2200" dirty="0"/>
              <a:t> files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	b. Index the BAM files - this produces </a:t>
            </a:r>
            <a:r>
              <a:rPr lang="en-US" sz="2200" i="1" dirty="0"/>
              <a:t>.</a:t>
            </a:r>
            <a:r>
              <a:rPr lang="en-US" sz="2200" i="1" dirty="0" err="1"/>
              <a:t>bam.bai</a:t>
            </a:r>
            <a:r>
              <a:rPr lang="en-US" sz="2200" i="1" dirty="0"/>
              <a:t> </a:t>
            </a:r>
            <a:r>
              <a:rPr lang="en-US" sz="2200" dirty="0"/>
              <a:t>files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4. Create count matrix from alignments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5. Differential Expression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6.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79057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571416-6F09-E828-AB2A-EF06DA27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86"/>
          <a:stretch>
            <a:fillRect/>
          </a:stretch>
        </p:blipFill>
        <p:spPr>
          <a:xfrm>
            <a:off x="3165798" y="2514600"/>
            <a:ext cx="5860402" cy="914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D7ECFA-B4EE-A6A9-FE61-8247EF27B012}"/>
              </a:ext>
            </a:extLst>
          </p:cNvPr>
          <p:cNvSpPr txBox="1"/>
          <p:nvPr/>
        </p:nvSpPr>
        <p:spPr>
          <a:xfrm>
            <a:off x="5060748" y="1581477"/>
            <a:ext cx="2070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Starting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EBF91-EB5C-1ABF-E208-34968A204182}"/>
              </a:ext>
            </a:extLst>
          </p:cNvPr>
          <p:cNvSpPr txBox="1"/>
          <p:nvPr/>
        </p:nvSpPr>
        <p:spPr>
          <a:xfrm>
            <a:off x="3358604" y="3900458"/>
            <a:ext cx="5474790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RNA-seq pipeline – </a:t>
            </a:r>
            <a:r>
              <a:rPr lang="en-US" dirty="0" err="1"/>
              <a:t>get_gene_counts.sh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/>
              <a:t>Raw data folder/directory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Reference Genome files – FASTA and GFF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Genomes and configuration file for </a:t>
            </a:r>
            <a:r>
              <a:rPr lang="en-US" dirty="0" err="1"/>
              <a:t>FastScreen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0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C85C-87E9-A986-6232-B266F612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over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E421-F467-567E-5A13-A054C8CCE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Navigate to /lecture_3/</a:t>
            </a:r>
            <a:r>
              <a:rPr lang="en-US" sz="2400" dirty="0" err="1"/>
              <a:t>raw_data</a:t>
            </a:r>
            <a:r>
              <a:rPr lang="en-US" sz="2400" dirty="0"/>
              <a:t> and look inside.</a:t>
            </a:r>
          </a:p>
          <a:p>
            <a:pPr marL="457200" indent="-457200">
              <a:buAutoNum type="arabicPeriod"/>
            </a:pPr>
            <a:r>
              <a:rPr lang="en-US" sz="2400" dirty="0"/>
              <a:t>Notice two </a:t>
            </a:r>
            <a:r>
              <a:rPr lang="en-US" sz="2400" dirty="0" err="1"/>
              <a:t>fastq</a:t>
            </a:r>
            <a:r>
              <a:rPr lang="en-US" sz="2400" dirty="0"/>
              <a:t> files per replicate, R1 and R2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Look inside file BORED_1_S1_R1_001.fastq.gz using:</a:t>
            </a:r>
          </a:p>
          <a:p>
            <a:pPr marL="0" indent="0" algn="ctr">
              <a:buNone/>
            </a:pPr>
            <a:r>
              <a:rPr lang="en-US" sz="2400" b="1" dirty="0" err="1"/>
              <a:t>zcat</a:t>
            </a:r>
            <a:r>
              <a:rPr lang="en-US" sz="2400" b="1" dirty="0"/>
              <a:t> </a:t>
            </a:r>
            <a:r>
              <a:rPr lang="en-US" sz="2400" b="1" dirty="0" err="1"/>
              <a:t>raw_data</a:t>
            </a:r>
            <a:r>
              <a:rPr lang="en-US" sz="2400" b="1" dirty="0"/>
              <a:t>/BORED_1_S1_R1_001.fastq.gz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45674-F69D-9602-171E-260DFAACD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33" y="3429000"/>
            <a:ext cx="9770534" cy="356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6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605D844-63AB-41F7-0548-953A6CF69817}"/>
              </a:ext>
            </a:extLst>
          </p:cNvPr>
          <p:cNvSpPr txBox="1"/>
          <p:nvPr/>
        </p:nvSpPr>
        <p:spPr>
          <a:xfrm>
            <a:off x="2032000" y="5489499"/>
            <a:ext cx="8128000" cy="442674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Aptos Display"/>
                <a:ea typeface="Calibri"/>
                <a:cs typeface="Calibri"/>
              </a:rPr>
              <a:t>Typically for an RNA-Seq </a:t>
            </a:r>
            <a:r>
              <a:rPr lang="en-US" sz="2000">
                <a:latin typeface="Aptos Display"/>
                <a:ea typeface="Calibri"/>
                <a:cs typeface="Calibri"/>
              </a:rPr>
              <a:t>projectss </a:t>
            </a:r>
            <a:r>
              <a:rPr lang="en-US" sz="2000" dirty="0">
                <a:latin typeface="Aptos Display"/>
                <a:ea typeface="Calibri"/>
                <a:cs typeface="Calibri"/>
              </a:rPr>
              <a:t>you will use Pair-end Reads.</a:t>
            </a:r>
            <a:endParaRPr lang="en-US" sz="2000" dirty="0">
              <a:latin typeface="Aptos Display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5DD12-391D-E07C-7E71-AE1FF974C0C2}"/>
              </a:ext>
            </a:extLst>
          </p:cNvPr>
          <p:cNvGrpSpPr/>
          <p:nvPr/>
        </p:nvGrpSpPr>
        <p:grpSpPr>
          <a:xfrm>
            <a:off x="1659465" y="1743756"/>
            <a:ext cx="9238690" cy="3381677"/>
            <a:chOff x="1820332" y="1794556"/>
            <a:chExt cx="9238690" cy="3381677"/>
          </a:xfrm>
        </p:grpSpPr>
        <p:pic>
          <p:nvPicPr>
            <p:cNvPr id="7" name="Picture 6" descr="Library preparation for RNA sequencing utilizing - Capture and  Amplification by Tailing and Switching (CATS) | Diagenode">
              <a:extLst>
                <a:ext uri="{FF2B5EF4-FFF2-40B4-BE49-F238E27FC236}">
                  <a16:creationId xmlns:a16="http://schemas.microsoft.com/office/drawing/2014/main" id="{0B22EEBC-44B2-78CA-2093-FC025E5EB7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" b="21040"/>
            <a:stretch/>
          </p:blipFill>
          <p:spPr>
            <a:xfrm>
              <a:off x="1820332" y="1794556"/>
              <a:ext cx="7738532" cy="338167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449882-9BB4-2D1F-404C-BCA654F97D98}"/>
                </a:ext>
              </a:extLst>
            </p:cNvPr>
            <p:cNvSpPr txBox="1"/>
            <p:nvPr/>
          </p:nvSpPr>
          <p:spPr>
            <a:xfrm>
              <a:off x="8796866" y="2218267"/>
              <a:ext cx="226215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SAMPLE_R1.fastq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C64DC9-7066-4DF8-28C2-7961DB463C41}"/>
                </a:ext>
              </a:extLst>
            </p:cNvPr>
            <p:cNvSpPr txBox="1"/>
            <p:nvPr/>
          </p:nvSpPr>
          <p:spPr>
            <a:xfrm>
              <a:off x="8796866" y="3090334"/>
              <a:ext cx="2262155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SAMPLE_R1.fastq</a:t>
              </a:r>
            </a:p>
            <a:p>
              <a:r>
                <a:rPr lang="en-US" dirty="0">
                  <a:ea typeface="Calibri"/>
                  <a:cs typeface="Calibri"/>
                </a:rPr>
                <a:t>SAMPLE_R2.fastq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8C5AB605-841C-719B-CA78-EC01325966EE}"/>
                </a:ext>
              </a:extLst>
            </p:cNvPr>
            <p:cNvSpPr/>
            <p:nvPr/>
          </p:nvSpPr>
          <p:spPr>
            <a:xfrm>
              <a:off x="8348133" y="2142066"/>
              <a:ext cx="296334" cy="533400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4DA94DD5-C06A-0886-4861-E76DF5B71F30}"/>
                </a:ext>
              </a:extLst>
            </p:cNvPr>
            <p:cNvSpPr/>
            <p:nvPr/>
          </p:nvSpPr>
          <p:spPr>
            <a:xfrm>
              <a:off x="8348133" y="3039532"/>
              <a:ext cx="296334" cy="745066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0B146296-6344-D575-D598-C70E4A8293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1D49F4-E9B1-0D26-96FC-59172D4EC28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a typeface="+mn-lt"/>
                <a:cs typeface="+mn-lt"/>
              </a:rPr>
              <a:t>Single-end vs Pair-end Reads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60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1737D-1839-2582-D9C2-E64F6CB2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52A1-9D8B-C4D5-1DC2-78D8D3BB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8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Example FASTQ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AF22F6-ABD1-7EE5-7339-547DB1CEA522}"/>
              </a:ext>
            </a:extLst>
          </p:cNvPr>
          <p:cNvGrpSpPr/>
          <p:nvPr/>
        </p:nvGrpSpPr>
        <p:grpSpPr>
          <a:xfrm>
            <a:off x="1397667" y="1432901"/>
            <a:ext cx="9595319" cy="2096933"/>
            <a:chOff x="1472395" y="1391933"/>
            <a:chExt cx="9595319" cy="2096933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00063481-CFA6-22A8-7B01-7ECB9D513A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t="8881" r="1445" b="10064"/>
            <a:stretch>
              <a:fillRect/>
            </a:stretch>
          </p:blipFill>
          <p:spPr bwMode="auto">
            <a:xfrm>
              <a:off x="1472395" y="1391933"/>
              <a:ext cx="9595319" cy="2096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624583-EB02-0674-8C3A-3AA1204E0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94" t="26253" r="7461" b="69205"/>
            <a:stretch>
              <a:fillRect/>
            </a:stretch>
          </p:blipFill>
          <p:spPr>
            <a:xfrm>
              <a:off x="2351459" y="1915657"/>
              <a:ext cx="8368146" cy="16178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BB6224-E8D9-F18E-00D5-C5BCC568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93" t="30711" r="9256" b="64747"/>
            <a:stretch>
              <a:fillRect/>
            </a:stretch>
          </p:blipFill>
          <p:spPr>
            <a:xfrm>
              <a:off x="2351458" y="2253092"/>
              <a:ext cx="8615460" cy="17012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8F2467-FAB7-A978-FAD1-CB3663B33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73" t="35382" r="7312" b="60076"/>
            <a:stretch>
              <a:fillRect/>
            </a:stretch>
          </p:blipFill>
          <p:spPr>
            <a:xfrm>
              <a:off x="2351459" y="2581764"/>
              <a:ext cx="8615459" cy="1662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620276-50A5-C9CF-2001-3E32E8A1E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753" t="38933" r="7433" b="56525"/>
            <a:stretch>
              <a:fillRect/>
            </a:stretch>
          </p:blipFill>
          <p:spPr>
            <a:xfrm>
              <a:off x="2355446" y="2857310"/>
              <a:ext cx="8615459" cy="16623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7E6EC5-103A-84CC-11F1-6AFCCB7E2EEC}"/>
              </a:ext>
            </a:extLst>
          </p:cNvPr>
          <p:cNvGrpSpPr/>
          <p:nvPr/>
        </p:nvGrpSpPr>
        <p:grpSpPr>
          <a:xfrm>
            <a:off x="2385325" y="3173824"/>
            <a:ext cx="7620001" cy="3378200"/>
            <a:chOff x="2460054" y="3168411"/>
            <a:chExt cx="7620001" cy="3378200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99C326CC-AA7F-D9F9-E896-10A52F93EC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054" y="3168411"/>
              <a:ext cx="7620000" cy="337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4E407C-8668-BB3A-C719-5C6732460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94" t="26253" r="43570" b="69771"/>
            <a:stretch>
              <a:fillRect/>
            </a:stretch>
          </p:blipFill>
          <p:spPr>
            <a:xfrm>
              <a:off x="2985654" y="3792107"/>
              <a:ext cx="6090614" cy="17818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515CDC-2DB9-40BF-16A8-F45BFB0B6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93" t="30711" r="6789" b="64869"/>
            <a:stretch>
              <a:fillRect/>
            </a:stretch>
          </p:blipFill>
          <p:spPr>
            <a:xfrm>
              <a:off x="2985655" y="4628483"/>
              <a:ext cx="6971146" cy="13014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0B263A-E8CB-B8F5-CF51-0CC00D8B3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73" t="35382" r="22463" b="60197"/>
            <a:stretch>
              <a:fillRect/>
            </a:stretch>
          </p:blipFill>
          <p:spPr>
            <a:xfrm>
              <a:off x="2985655" y="5419087"/>
              <a:ext cx="7094400" cy="16178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82C69E-2B29-094F-BCF6-FEFDAAAAE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753" t="38933" r="7433" b="56525"/>
            <a:stretch>
              <a:fillRect/>
            </a:stretch>
          </p:blipFill>
          <p:spPr>
            <a:xfrm>
              <a:off x="2985652" y="6209691"/>
              <a:ext cx="7094401" cy="1368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801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0312-17D3-023F-126C-1C5501C8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Phred score </a:t>
            </a:r>
          </a:p>
        </p:txBody>
      </p:sp>
      <p:pic>
        <p:nvPicPr>
          <p:cNvPr id="1026" name="Picture 2" descr="Bioinformatics for Beginners - File Formats Part 2. - Short reads - Omixon  | NGS for HLA">
            <a:extLst>
              <a:ext uri="{FF2B5EF4-FFF2-40B4-BE49-F238E27FC236}">
                <a16:creationId xmlns:a16="http://schemas.microsoft.com/office/drawing/2014/main" id="{F6EE09BE-5F50-8FF1-7FF8-66174B37C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91" y="1690689"/>
            <a:ext cx="5302857" cy="358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DAF8BF-DC5B-B5A3-2537-0B94E6AA0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84500"/>
              </p:ext>
            </p:extLst>
          </p:nvPr>
        </p:nvGraphicFramePr>
        <p:xfrm>
          <a:off x="6713554" y="2358492"/>
          <a:ext cx="5302857" cy="224942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67619">
                  <a:extLst>
                    <a:ext uri="{9D8B030D-6E8A-4147-A177-3AD203B41FA5}">
                      <a16:colId xmlns:a16="http://schemas.microsoft.com/office/drawing/2014/main" val="1132983609"/>
                    </a:ext>
                  </a:extLst>
                </a:gridCol>
                <a:gridCol w="1767619">
                  <a:extLst>
                    <a:ext uri="{9D8B030D-6E8A-4147-A177-3AD203B41FA5}">
                      <a16:colId xmlns:a16="http://schemas.microsoft.com/office/drawing/2014/main" val="3775807066"/>
                    </a:ext>
                  </a:extLst>
                </a:gridCol>
                <a:gridCol w="1767619">
                  <a:extLst>
                    <a:ext uri="{9D8B030D-6E8A-4147-A177-3AD203B41FA5}">
                      <a16:colId xmlns:a16="http://schemas.microsoft.com/office/drawing/2014/main" val="206417820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Phred Quality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 of incorrect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 Call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26103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95259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88868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51562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60447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15C8E9-E2BF-1219-614A-E3847282A44E}"/>
              </a:ext>
            </a:extLst>
          </p:cNvPr>
          <p:cNvCxnSpPr>
            <a:stCxn id="1026" idx="3"/>
          </p:cNvCxnSpPr>
          <p:nvPr/>
        </p:nvCxnSpPr>
        <p:spPr>
          <a:xfrm>
            <a:off x="5478448" y="3483204"/>
            <a:ext cx="10018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21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43F9-4564-FBA2-5EFA-8A395354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submit the script!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10CE-8BE7-A763-0A56-B3275BE1A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749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1. Make sure you are in the directory you want to work in:    </a:t>
            </a:r>
            <a:r>
              <a:rPr lang="en-US" sz="2000" b="1" dirty="0"/>
              <a:t>/scratch/USERNAME/lecture_3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2. In the beginning part of the script change YOUR EMAIL LINE: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FD00F-828E-3FA8-3588-A9EC9ED44911}"/>
              </a:ext>
            </a:extLst>
          </p:cNvPr>
          <p:cNvSpPr txBox="1"/>
          <p:nvPr/>
        </p:nvSpPr>
        <p:spPr>
          <a:xfrm>
            <a:off x="3429000" y="3023118"/>
            <a:ext cx="533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#!/bin/bash</a:t>
            </a:r>
          </a:p>
          <a:p>
            <a:r>
              <a:rPr lang="en-US" sz="1800" dirty="0"/>
              <a:t>#SBATCH --partition=normal</a:t>
            </a:r>
          </a:p>
          <a:p>
            <a:r>
              <a:rPr lang="en-US" sz="1800" dirty="0"/>
              <a:t>#SBATCH --</a:t>
            </a:r>
            <a:r>
              <a:rPr lang="en-US" sz="1800" dirty="0" err="1"/>
              <a:t>ntasks</a:t>
            </a:r>
            <a:r>
              <a:rPr lang="en-US" sz="1800" dirty="0"/>
              <a:t>=1</a:t>
            </a:r>
          </a:p>
          <a:p>
            <a:r>
              <a:rPr lang="en-US" sz="1800" dirty="0"/>
              <a:t>#SBATCH --</a:t>
            </a:r>
            <a:r>
              <a:rPr lang="en-US" sz="1800" dirty="0" err="1"/>
              <a:t>cpus</a:t>
            </a:r>
            <a:r>
              <a:rPr lang="en-US" sz="1800" dirty="0"/>
              <a:t>-per-task=10</a:t>
            </a:r>
          </a:p>
          <a:p>
            <a:r>
              <a:rPr lang="en-US" sz="1800" dirty="0"/>
              <a:t>#SBATCH --mem=30G</a:t>
            </a:r>
          </a:p>
          <a:p>
            <a:r>
              <a:rPr lang="en-US" sz="1800" dirty="0"/>
              <a:t>#SBATCH --output=get_gene_counts_%</a:t>
            </a:r>
            <a:r>
              <a:rPr lang="en-US" sz="1800" dirty="0" err="1"/>
              <a:t>J_stdout.txt</a:t>
            </a:r>
            <a:endParaRPr lang="en-US" sz="1800" dirty="0"/>
          </a:p>
          <a:p>
            <a:r>
              <a:rPr lang="en-US" sz="1800" dirty="0"/>
              <a:t>#SBATCH --error= </a:t>
            </a:r>
            <a:r>
              <a:rPr lang="en-US" dirty="0" err="1"/>
              <a:t>get_gene_counts</a:t>
            </a:r>
            <a:r>
              <a:rPr lang="en-US" dirty="0"/>
              <a:t> </a:t>
            </a:r>
            <a:r>
              <a:rPr lang="en-US" sz="1800" dirty="0"/>
              <a:t>_%</a:t>
            </a:r>
            <a:r>
              <a:rPr lang="en-US" sz="1800" dirty="0" err="1"/>
              <a:t>J_stderr.txt</a:t>
            </a:r>
            <a:endParaRPr lang="en-US" sz="1800" dirty="0"/>
          </a:p>
          <a:p>
            <a:r>
              <a:rPr lang="en-US" sz="1800" dirty="0"/>
              <a:t>#SBATCH --time=</a:t>
            </a:r>
            <a:r>
              <a:rPr lang="en-US" dirty="0"/>
              <a:t>5</a:t>
            </a:r>
            <a:r>
              <a:rPr lang="en-US" sz="1800" dirty="0"/>
              <a:t>:00:00</a:t>
            </a:r>
          </a:p>
          <a:p>
            <a:r>
              <a:rPr lang="en-US" sz="1800" dirty="0"/>
              <a:t>#SBATCH --job-name=</a:t>
            </a:r>
            <a:r>
              <a:rPr lang="en-US" sz="1800" dirty="0" err="1"/>
              <a:t>get_gene_counts</a:t>
            </a:r>
            <a:endParaRPr lang="en-US" sz="1800" dirty="0"/>
          </a:p>
          <a:p>
            <a:r>
              <a:rPr lang="en-US" sz="1800" dirty="0"/>
              <a:t>#SBATCH --mail-user=</a:t>
            </a:r>
            <a:r>
              <a:rPr lang="en-US" sz="1800" b="1" dirty="0" err="1">
                <a:solidFill>
                  <a:srgbClr val="C00000"/>
                </a:solidFill>
              </a:rPr>
              <a:t>YOUREMAIL</a:t>
            </a:r>
            <a:r>
              <a:rPr lang="en-US" sz="1800" dirty="0" err="1"/>
              <a:t>@ou.edu</a:t>
            </a:r>
            <a:endParaRPr lang="en-US" sz="1800" dirty="0"/>
          </a:p>
          <a:p>
            <a:r>
              <a:rPr lang="en-US" sz="1800" dirty="0"/>
              <a:t>#SBATCH --mail-type=ALL</a:t>
            </a:r>
          </a:p>
          <a:p>
            <a:r>
              <a:rPr lang="en-US" sz="1800" dirty="0"/>
              <a:t>#SBATCH --</a:t>
            </a:r>
            <a:r>
              <a:rPr lang="en-US" sz="1800" dirty="0" err="1"/>
              <a:t>chdir</a:t>
            </a:r>
            <a:r>
              <a:rPr lang="en-US" sz="1800" dirty="0"/>
              <a:t>=/scratch/$USER</a:t>
            </a:r>
          </a:p>
        </p:txBody>
      </p:sp>
    </p:spTree>
    <p:extLst>
      <p:ext uri="{BB962C8B-B14F-4D97-AF65-F5344CB8AC3E}">
        <p14:creationId xmlns:p14="http://schemas.microsoft.com/office/powerpoint/2010/main" val="10725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BD131-7967-5F4A-677F-2E5CF2B1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D8B8-44BC-9950-3083-BF961911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submit the script!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B74AB-E9E3-99B1-CA8F-382529E81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3.. Submit the script:    </a:t>
            </a:r>
            <a:r>
              <a:rPr lang="en-US" sz="2000" b="1" dirty="0" err="1"/>
              <a:t>sbatch</a:t>
            </a:r>
            <a:r>
              <a:rPr lang="en-US" sz="2000" b="1" dirty="0"/>
              <a:t> </a:t>
            </a:r>
            <a:r>
              <a:rPr lang="en-US" sz="2000" b="1" dirty="0" err="1"/>
              <a:t>get_gene_counts.sh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We will submit the script now, so that it will run while we are going over everything, and we can see the results at the end of class.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4. Let’s make sure your job is running: </a:t>
            </a:r>
            <a:r>
              <a:rPr lang="en-US" sz="2000" dirty="0" err="1"/>
              <a:t>squeue</a:t>
            </a:r>
            <a:r>
              <a:rPr lang="en-US" sz="2000" dirty="0"/>
              <a:t> --me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137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82EF-321A-85AB-0149-B033FC06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857334-D22A-C56D-F9E3-78C454B26D77}"/>
              </a:ext>
            </a:extLst>
          </p:cNvPr>
          <p:cNvSpPr txBox="1"/>
          <p:nvPr/>
        </p:nvSpPr>
        <p:spPr>
          <a:xfrm>
            <a:off x="703826" y="674400"/>
            <a:ext cx="922149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#!/bin/bash</a:t>
            </a:r>
          </a:p>
          <a:p>
            <a:r>
              <a:rPr lang="en-US" sz="1600" dirty="0"/>
              <a:t>#SBATCH --partition=normal</a:t>
            </a:r>
          </a:p>
          <a:p>
            <a:r>
              <a:rPr lang="en-US" sz="1600" dirty="0"/>
              <a:t>#SBATCH --</a:t>
            </a:r>
            <a:r>
              <a:rPr lang="en-US" sz="1600" dirty="0" err="1"/>
              <a:t>ntasks</a:t>
            </a:r>
            <a:r>
              <a:rPr lang="en-US" sz="1600" dirty="0"/>
              <a:t>=1</a:t>
            </a:r>
          </a:p>
          <a:p>
            <a:r>
              <a:rPr lang="en-US" sz="1600" dirty="0"/>
              <a:t>#SBATCH --</a:t>
            </a:r>
            <a:r>
              <a:rPr lang="en-US" sz="1600" dirty="0" err="1"/>
              <a:t>cpus</a:t>
            </a:r>
            <a:r>
              <a:rPr lang="en-US" sz="1600" dirty="0"/>
              <a:t>-per-task=10</a:t>
            </a:r>
          </a:p>
          <a:p>
            <a:r>
              <a:rPr lang="en-US" sz="1600" dirty="0"/>
              <a:t>#SBATCH --mem=30G</a:t>
            </a:r>
          </a:p>
          <a:p>
            <a:r>
              <a:rPr lang="en-US" sz="1600" dirty="0"/>
              <a:t>#SBATCH --output=</a:t>
            </a:r>
            <a:r>
              <a:rPr lang="en-US" sz="1600" dirty="0" err="1"/>
              <a:t>firstJob</a:t>
            </a:r>
            <a:r>
              <a:rPr lang="en-US" sz="1600" dirty="0"/>
              <a:t>_%</a:t>
            </a:r>
            <a:r>
              <a:rPr lang="en-US" sz="1600" dirty="0" err="1"/>
              <a:t>J_stdout.txt</a:t>
            </a:r>
            <a:endParaRPr lang="en-US" sz="1600" dirty="0"/>
          </a:p>
          <a:p>
            <a:r>
              <a:rPr lang="en-US" sz="1600" dirty="0"/>
              <a:t>#SBATCH --error= </a:t>
            </a:r>
            <a:r>
              <a:rPr lang="en-US" sz="1600" dirty="0" err="1"/>
              <a:t>firstJob</a:t>
            </a:r>
            <a:r>
              <a:rPr lang="en-US" sz="1600" dirty="0"/>
              <a:t> _%</a:t>
            </a:r>
            <a:r>
              <a:rPr lang="en-US" sz="1600" dirty="0" err="1"/>
              <a:t>J_stderr.txt</a:t>
            </a:r>
            <a:endParaRPr lang="en-US" sz="1600" dirty="0"/>
          </a:p>
          <a:p>
            <a:r>
              <a:rPr lang="en-US" sz="1600" dirty="0"/>
              <a:t>#SBATCH --time=12:00:00</a:t>
            </a:r>
          </a:p>
          <a:p>
            <a:r>
              <a:rPr lang="en-US" sz="1600" dirty="0"/>
              <a:t>#SBATCH --job-name=jobname</a:t>
            </a:r>
          </a:p>
          <a:p>
            <a:r>
              <a:rPr lang="en-US" sz="1600" dirty="0"/>
              <a:t>#SBATCH --mail-user=</a:t>
            </a:r>
            <a:r>
              <a:rPr lang="en-US" sz="1600" b="1" dirty="0" err="1">
                <a:solidFill>
                  <a:srgbClr val="C00000"/>
                </a:solidFill>
              </a:rPr>
              <a:t>YOUREMAIL</a:t>
            </a:r>
            <a:r>
              <a:rPr lang="en-US" sz="1600" dirty="0" err="1"/>
              <a:t>@ou.edu</a:t>
            </a:r>
            <a:endParaRPr lang="en-US" sz="1600" dirty="0"/>
          </a:p>
          <a:p>
            <a:r>
              <a:rPr lang="en-US" sz="1600" dirty="0"/>
              <a:t>#SBATCH --mail-type=ALL</a:t>
            </a:r>
          </a:p>
          <a:p>
            <a:r>
              <a:rPr lang="en-US" sz="1600" dirty="0"/>
              <a:t>#SBATCH --</a:t>
            </a:r>
            <a:r>
              <a:rPr lang="en-US" sz="1600" dirty="0" err="1"/>
              <a:t>chdir</a:t>
            </a:r>
            <a:r>
              <a:rPr lang="en-US" sz="1600" dirty="0"/>
              <a:t>=/scratch/$USER</a:t>
            </a:r>
          </a:p>
          <a:p>
            <a:endParaRPr lang="en-US" sz="1600" dirty="0"/>
          </a:p>
          <a:p>
            <a:r>
              <a:rPr lang="en-US" sz="1600" dirty="0"/>
              <a:t>#===============================================================================</a:t>
            </a:r>
          </a:p>
          <a:p>
            <a:endParaRPr lang="en-US" sz="1600" dirty="0"/>
          </a:p>
          <a:p>
            <a:r>
              <a:rPr lang="en-US" sz="1600" dirty="0"/>
              <a:t># BASH Strict mode (i.e. "nag and quit" instead of ignoring some common errors)</a:t>
            </a:r>
          </a:p>
          <a:p>
            <a:r>
              <a:rPr lang="en-US" sz="1600" dirty="0"/>
              <a:t>set -e          # EXIT the script if any command returns non-zero exit status.</a:t>
            </a:r>
          </a:p>
          <a:p>
            <a:r>
              <a:rPr lang="en-US" sz="1600" dirty="0"/>
              <a:t>set -E          # Make ERR trapping work inside functions too.</a:t>
            </a:r>
          </a:p>
          <a:p>
            <a:r>
              <a:rPr lang="en-US" sz="1600" dirty="0"/>
              <a:t>set -u          # Variables must be pre-defined before using them.</a:t>
            </a:r>
          </a:p>
          <a:p>
            <a:r>
              <a:rPr lang="en-US" sz="1600" dirty="0"/>
              <a:t>set -o </a:t>
            </a:r>
            <a:r>
              <a:rPr lang="en-US" sz="1600" dirty="0" err="1"/>
              <a:t>pipefail</a:t>
            </a:r>
            <a:r>
              <a:rPr lang="en-US" sz="1600" dirty="0"/>
              <a:t>       # If a pipe fails, returns the error code for the failed pipe</a:t>
            </a:r>
          </a:p>
          <a:p>
            <a:r>
              <a:rPr lang="en-US" sz="1600" dirty="0"/>
              <a:t>                                    #  even if it isn't the last command in a series of pipes.</a:t>
            </a:r>
          </a:p>
          <a:p>
            <a:r>
              <a:rPr lang="en-US" sz="1600" dirty="0"/>
              <a:t>#===============================================================================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865C0-C0EE-DE05-432E-0FD600AFCD8B}"/>
              </a:ext>
            </a:extLst>
          </p:cNvPr>
          <p:cNvSpPr txBox="1"/>
          <p:nvPr/>
        </p:nvSpPr>
        <p:spPr>
          <a:xfrm>
            <a:off x="6096000" y="1954964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Bash Preamble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164F3-C421-9237-6CCC-855B69F69545}"/>
              </a:ext>
            </a:extLst>
          </p:cNvPr>
          <p:cNvSpPr txBox="1"/>
          <p:nvPr/>
        </p:nvSpPr>
        <p:spPr>
          <a:xfrm>
            <a:off x="7957932" y="4713899"/>
            <a:ext cx="4234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section makes the script “Fail Fast”. This means it will stop running as soon as it hits an error at any step.</a:t>
            </a:r>
          </a:p>
        </p:txBody>
      </p:sp>
    </p:spTree>
    <p:extLst>
      <p:ext uri="{BB962C8B-B14F-4D97-AF65-F5344CB8AC3E}">
        <p14:creationId xmlns:p14="http://schemas.microsoft.com/office/powerpoint/2010/main" val="672724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8FD4C-B018-A776-B960-9B08BDD9F1A0}"/>
              </a:ext>
            </a:extLst>
          </p:cNvPr>
          <p:cNvSpPr txBox="1"/>
          <p:nvPr/>
        </p:nvSpPr>
        <p:spPr>
          <a:xfrm>
            <a:off x="528234" y="286946"/>
            <a:ext cx="976393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Load in needed programs as modules</a:t>
            </a:r>
          </a:p>
          <a:p>
            <a:r>
              <a:rPr lang="en-US" dirty="0"/>
              <a:t>module load </a:t>
            </a:r>
            <a:r>
              <a:rPr lang="en-US" dirty="0" err="1"/>
              <a:t>FastQC</a:t>
            </a:r>
            <a:r>
              <a:rPr lang="en-US" dirty="0"/>
              <a:t>/0.12.1-Java-11      # for Quality Control (QC), analyzing quality of FASTQs</a:t>
            </a:r>
          </a:p>
          <a:p>
            <a:r>
              <a:rPr lang="en-US" dirty="0"/>
              <a:t>module load </a:t>
            </a:r>
            <a:r>
              <a:rPr lang="en-US" dirty="0" err="1"/>
              <a:t>FastQ_Screen</a:t>
            </a:r>
            <a:r>
              <a:rPr lang="en-US" dirty="0"/>
              <a:t>/0.15.3-GCC-12.3.0 # for QC, comparing data to several references</a:t>
            </a:r>
          </a:p>
          <a:p>
            <a:r>
              <a:rPr lang="en-US" dirty="0"/>
              <a:t>module load </a:t>
            </a:r>
            <a:r>
              <a:rPr lang="en-US" dirty="0" err="1"/>
              <a:t>MultiQC</a:t>
            </a:r>
            <a:r>
              <a:rPr lang="en-US" dirty="0"/>
              <a:t>/1.28-foss-2024a      # for combining QC reports</a:t>
            </a:r>
          </a:p>
          <a:p>
            <a:r>
              <a:rPr lang="en-US" dirty="0"/>
              <a:t>module load HISAT2/2.2.1-gompi-2024a       # for aligning to genome, output to .</a:t>
            </a:r>
            <a:r>
              <a:rPr lang="en-US" dirty="0" err="1"/>
              <a:t>sam</a:t>
            </a:r>
            <a:r>
              <a:rPr lang="en-US" dirty="0"/>
              <a:t> files</a:t>
            </a:r>
          </a:p>
          <a:p>
            <a:r>
              <a:rPr lang="en-US" dirty="0"/>
              <a:t>module load </a:t>
            </a:r>
            <a:r>
              <a:rPr lang="en-US" dirty="0" err="1"/>
              <a:t>SAMtools</a:t>
            </a:r>
            <a:r>
              <a:rPr lang="en-US" dirty="0"/>
              <a:t>/1.19.2-GCC-13.2.0     # for processing/converting/indexing .</a:t>
            </a:r>
            <a:r>
              <a:rPr lang="en-US" dirty="0" err="1"/>
              <a:t>sam</a:t>
            </a:r>
            <a:r>
              <a:rPr lang="en-US" dirty="0"/>
              <a:t>/.bam files</a:t>
            </a:r>
          </a:p>
          <a:p>
            <a:r>
              <a:rPr lang="en-US" dirty="0"/>
              <a:t>module load Subread/2.0.6-GCC-12.3.0      # for </a:t>
            </a:r>
            <a:r>
              <a:rPr lang="en-US" dirty="0" err="1"/>
              <a:t>featureCounts</a:t>
            </a:r>
            <a:r>
              <a:rPr lang="en-US" dirty="0"/>
              <a:t>, quantifier of read counts per gene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GENOME_FASTA="</a:t>
            </a:r>
            <a:r>
              <a:rPr lang="en-US" dirty="0" err="1"/>
              <a:t>ref_genome</a:t>
            </a:r>
            <a:r>
              <a:rPr lang="en-US" dirty="0"/>
              <a:t>/</a:t>
            </a:r>
            <a:r>
              <a:rPr lang="en-US" dirty="0" err="1"/>
              <a:t>genome.fa</a:t>
            </a:r>
            <a:r>
              <a:rPr lang="en-US" dirty="0"/>
              <a:t>"</a:t>
            </a:r>
          </a:p>
          <a:p>
            <a:r>
              <a:rPr lang="en-US" dirty="0"/>
              <a:t>ANNOTATION_FILE="</a:t>
            </a:r>
            <a:r>
              <a:rPr lang="en-US" dirty="0" err="1"/>
              <a:t>ref_genome</a:t>
            </a:r>
            <a:r>
              <a:rPr lang="en-US" dirty="0"/>
              <a:t>/</a:t>
            </a:r>
            <a:r>
              <a:rPr lang="en-US" dirty="0" err="1"/>
              <a:t>features.gff</a:t>
            </a:r>
            <a:r>
              <a:rPr lang="en-US" dirty="0"/>
              <a:t>"</a:t>
            </a:r>
          </a:p>
          <a:p>
            <a:r>
              <a:rPr lang="en-US" dirty="0"/>
              <a:t>INDEX_GENOME_DIR="</a:t>
            </a:r>
            <a:r>
              <a:rPr lang="en-US" dirty="0" err="1"/>
              <a:t>ref_genome</a:t>
            </a:r>
            <a:r>
              <a:rPr lang="en-US" dirty="0"/>
              <a:t>/hisat2_index”</a:t>
            </a:r>
          </a:p>
          <a:p>
            <a:endParaRPr lang="en-US" dirty="0"/>
          </a:p>
          <a:p>
            <a:r>
              <a:rPr lang="en-US" dirty="0"/>
              <a:t># Data directory (yes, reading from archive is fine)</a:t>
            </a:r>
          </a:p>
          <a:p>
            <a:r>
              <a:rPr lang="en-US" dirty="0"/>
              <a:t>FASTQ_DIR="</a:t>
            </a:r>
            <a:r>
              <a:rPr lang="en-US" dirty="0" err="1"/>
              <a:t>raw_data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Make directories we will use during this analysis</a:t>
            </a:r>
          </a:p>
          <a:p>
            <a:r>
              <a:rPr lang="en-US" dirty="0" err="1"/>
              <a:t>mkdir</a:t>
            </a:r>
            <a:r>
              <a:rPr lang="en-US" dirty="0"/>
              <a:t> -p 01-qc</a:t>
            </a:r>
          </a:p>
          <a:p>
            <a:r>
              <a:rPr lang="en-US" dirty="0" err="1"/>
              <a:t>mkdir</a:t>
            </a:r>
            <a:r>
              <a:rPr lang="en-US" dirty="0"/>
              <a:t> -p 02-sam</a:t>
            </a:r>
          </a:p>
          <a:p>
            <a:r>
              <a:rPr lang="en-US" dirty="0" err="1"/>
              <a:t>mkdir</a:t>
            </a:r>
            <a:r>
              <a:rPr lang="en-US" dirty="0"/>
              <a:t> -p 03-bam</a:t>
            </a:r>
          </a:p>
          <a:p>
            <a:r>
              <a:rPr lang="en-US" dirty="0" err="1"/>
              <a:t>mkdir</a:t>
            </a:r>
            <a:r>
              <a:rPr lang="en-US" dirty="0"/>
              <a:t> -p 04-raw_counts</a:t>
            </a:r>
          </a:p>
          <a:p>
            <a:r>
              <a:rPr lang="en-US" dirty="0" err="1"/>
              <a:t>mkdir</a:t>
            </a:r>
            <a:r>
              <a:rPr lang="en-US" dirty="0"/>
              <a:t> $INDEX_GENOME_DIR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A7919-2387-7F74-703D-8A39F2704A2E}"/>
              </a:ext>
            </a:extLst>
          </p:cNvPr>
          <p:cNvSpPr txBox="1"/>
          <p:nvPr/>
        </p:nvSpPr>
        <p:spPr>
          <a:xfrm>
            <a:off x="8770178" y="107746"/>
            <a:ext cx="319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 modules we will be using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961B8-F1E9-0CF2-FEAC-085DEED7D6CA}"/>
              </a:ext>
            </a:extLst>
          </p:cNvPr>
          <p:cNvSpPr txBox="1"/>
          <p:nvPr/>
        </p:nvSpPr>
        <p:spPr>
          <a:xfrm>
            <a:off x="7091781" y="2453661"/>
            <a:ext cx="4790267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Define the file paths to the data we need: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Reference genome FASTA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Annotation file GFF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Reference index folder from Hisat2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Directory with raw FASTQ 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2F5DE-644C-3D78-1363-4F5316BC632C}"/>
              </a:ext>
            </a:extLst>
          </p:cNvPr>
          <p:cNvSpPr txBox="1"/>
          <p:nvPr/>
        </p:nvSpPr>
        <p:spPr>
          <a:xfrm>
            <a:off x="6096000" y="5261240"/>
            <a:ext cx="5786048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Create directories for each step in the analysis.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This makes it easier to find the files we need.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Try to keep things organized as much as possible!</a:t>
            </a:r>
          </a:p>
        </p:txBody>
      </p:sp>
    </p:spTree>
    <p:extLst>
      <p:ext uri="{BB962C8B-B14F-4D97-AF65-F5344CB8AC3E}">
        <p14:creationId xmlns:p14="http://schemas.microsoft.com/office/powerpoint/2010/main" val="3780345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95A2-4F8B-1B65-C17F-4FAC1BD9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60C8F-48AF-BA1A-E052-5A378E904241}"/>
              </a:ext>
            </a:extLst>
          </p:cNvPr>
          <p:cNvSpPr txBox="1"/>
          <p:nvPr/>
        </p:nvSpPr>
        <p:spPr>
          <a:xfrm>
            <a:off x="712922" y="1166842"/>
            <a:ext cx="55070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 Step 1 - Quality Control</a:t>
            </a:r>
          </a:p>
          <a:p>
            <a:endParaRPr lang="en-US" sz="1600" dirty="0"/>
          </a:p>
          <a:p>
            <a:r>
              <a:rPr lang="en-US" sz="1600" dirty="0"/>
              <a:t># </a:t>
            </a:r>
            <a:r>
              <a:rPr lang="en-US" sz="1600" dirty="0" err="1"/>
              <a:t>fastqc</a:t>
            </a:r>
            <a:r>
              <a:rPr lang="en-US" sz="1600" dirty="0"/>
              <a:t> runs a quality analysis for each </a:t>
            </a:r>
            <a:r>
              <a:rPr lang="en-US" sz="1600" dirty="0" err="1"/>
              <a:t>fastq.gz</a:t>
            </a:r>
            <a:r>
              <a:rPr lang="en-US" sz="1600" dirty="0"/>
              <a:t> file</a:t>
            </a:r>
          </a:p>
          <a:p>
            <a:endParaRPr lang="en-US" sz="1600" dirty="0"/>
          </a:p>
          <a:p>
            <a:r>
              <a:rPr lang="en-US" sz="1600" dirty="0" err="1"/>
              <a:t>fastqc</a:t>
            </a:r>
            <a:r>
              <a:rPr lang="en-US" sz="1600" dirty="0"/>
              <a:t> --threads=$SLURM_CPUS_PER_TASK \</a:t>
            </a:r>
          </a:p>
          <a:p>
            <a:r>
              <a:rPr lang="en-US" sz="1600" dirty="0"/>
              <a:t>       --</a:t>
            </a:r>
            <a:r>
              <a:rPr lang="en-US" sz="1600" dirty="0" err="1"/>
              <a:t>outdir</a:t>
            </a:r>
            <a:r>
              <a:rPr lang="en-US" sz="1600" dirty="0"/>
              <a:t> 01-qc \</a:t>
            </a:r>
          </a:p>
          <a:p>
            <a:r>
              <a:rPr lang="en-US" sz="1600" dirty="0"/>
              <a:t>       $FASTQ_DIR/BORED_1_S1_R1_001.fastq.gz \</a:t>
            </a:r>
          </a:p>
          <a:p>
            <a:r>
              <a:rPr lang="en-US" sz="1600" dirty="0"/>
              <a:t>       $FASTQ_DIR/BORED_1_S1_R2_001.fastq.gz \</a:t>
            </a:r>
          </a:p>
          <a:p>
            <a:r>
              <a:rPr lang="en-US" sz="1600" dirty="0"/>
              <a:t>       $FASTQ_DIR/BORED_2_S2_R1_001.fastq.gz \</a:t>
            </a:r>
          </a:p>
          <a:p>
            <a:r>
              <a:rPr lang="en-US" sz="1600" dirty="0"/>
              <a:t>       $FASTQ_DIR/BORED_2_S2_R2_001.fastq.gz \</a:t>
            </a:r>
          </a:p>
          <a:p>
            <a:r>
              <a:rPr lang="en-US" sz="1600" dirty="0"/>
              <a:t>       $FASTQ_DIR/BORED_3_S3_R1_001.fastq.gz \</a:t>
            </a:r>
          </a:p>
          <a:p>
            <a:r>
              <a:rPr lang="en-US" sz="1600" dirty="0"/>
              <a:t>       $FASTQ_DIR/BORED_3_S3_R2_001.fastq.gz \</a:t>
            </a:r>
          </a:p>
          <a:p>
            <a:r>
              <a:rPr lang="en-US" sz="1600" dirty="0"/>
              <a:t>       $FASTQ_DIR/EXCITED_1_S4_R1_001.fastq.gz \</a:t>
            </a:r>
          </a:p>
          <a:p>
            <a:r>
              <a:rPr lang="en-US" sz="1600" dirty="0"/>
              <a:t>       $FASTQ_DIR/EXCITED_1_S4_R2_001.fastq.gz \</a:t>
            </a:r>
          </a:p>
          <a:p>
            <a:r>
              <a:rPr lang="en-US" sz="1600" dirty="0"/>
              <a:t>       $FASTQ_DIR/EXCITED_2_S5_R1_001.fastq.gz \</a:t>
            </a:r>
          </a:p>
          <a:p>
            <a:r>
              <a:rPr lang="en-US" sz="1600" dirty="0"/>
              <a:t>       $FASTQ_DIR/EXCITED_2_S5_R2_001.fastq.gz \</a:t>
            </a:r>
          </a:p>
          <a:p>
            <a:r>
              <a:rPr lang="en-US" sz="1600" dirty="0"/>
              <a:t>       $FASTQ_DIR/EXCITED_3_S6_R1_001.fastq.gz \</a:t>
            </a:r>
          </a:p>
          <a:p>
            <a:r>
              <a:rPr lang="en-US" sz="1600" dirty="0"/>
              <a:t>       $FASTQ_DIR/EXCITED_3_S6_R2_001.fastq.gz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84369-A2DA-2110-5BB5-90437089D3D1}"/>
              </a:ext>
            </a:extLst>
          </p:cNvPr>
          <p:cNvSpPr txBox="1"/>
          <p:nvPr/>
        </p:nvSpPr>
        <p:spPr>
          <a:xfrm>
            <a:off x="6219986" y="2156310"/>
            <a:ext cx="5259092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Here we make sure of the module/program ‘FASTQC’ to check the quality of each FASTQ file.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1. command “</a:t>
            </a:r>
            <a:r>
              <a:rPr lang="en-US" dirty="0" err="1">
                <a:solidFill>
                  <a:srgbClr val="FF0000"/>
                </a:solidFill>
              </a:rPr>
              <a:t>fastqc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2. options “ -- threads= SLURM_CPUS_PER_TASK”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3. output “ -- </a:t>
            </a:r>
            <a:r>
              <a:rPr lang="en-US" dirty="0" err="1">
                <a:solidFill>
                  <a:srgbClr val="FF0000"/>
                </a:solidFill>
              </a:rPr>
              <a:t>outdir</a:t>
            </a:r>
            <a:r>
              <a:rPr lang="en-US" dirty="0">
                <a:solidFill>
                  <a:srgbClr val="FF0000"/>
                </a:solidFill>
              </a:rPr>
              <a:t> 01-qc”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4. input “$FASTQ_DIR/...”</a:t>
            </a:r>
          </a:p>
        </p:txBody>
      </p:sp>
    </p:spTree>
    <p:extLst>
      <p:ext uri="{BB962C8B-B14F-4D97-AF65-F5344CB8AC3E}">
        <p14:creationId xmlns:p14="http://schemas.microsoft.com/office/powerpoint/2010/main" val="277121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B2CB-F742-2E87-66DA-12A90DF2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A0F24-F38A-C65D-D854-A16BCF0BC013}"/>
              </a:ext>
            </a:extLst>
          </p:cNvPr>
          <p:cNvSpPr txBox="1"/>
          <p:nvPr/>
        </p:nvSpPr>
        <p:spPr>
          <a:xfrm>
            <a:off x="298174" y="1189926"/>
            <a:ext cx="1189382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# Compare FASTQ files to references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$FASTQ_DIR/BORED_1_S1_R1_001.fastq.gz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$FASTQ_DIR/BORED_1_S1_R2_001.fastq.gz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$FASTQ_DIR/BORED_2_S2_R1_001.fastq.gz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$FASTQ_DIR/BORED_2_S2_R2_001.fastq.gz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$FASTQ_DIR/BORED_3_S3_R1_001.fastq.gz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$FASTQ_DIR/BORED_3_S3_R2_001.fastq.gz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$FASTQ_DIR/EXCITED_1_S4_R1_001.fastq.gz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$FASTQ_DIR/EXCITED_1_S4_R2_001.fastq.gz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$FASTQ_DIR/EXCITED_2_S5_R1_001.fastq.gz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$FASTQ_DIR/EXCITED_2_S5_R2_001.fastq.gz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$FASTQ_DIR/EXCITED_3_S6_R1_001.fastq.gz</a:t>
            </a:r>
          </a:p>
          <a:p>
            <a:r>
              <a:rPr lang="en-US" sz="1400" dirty="0" err="1"/>
              <a:t>fastq_screen</a:t>
            </a:r>
            <a:r>
              <a:rPr lang="en-US" sz="1400" dirty="0"/>
              <a:t> --threads $SLURM_CPUS_PER_TASK --aligner bowtie2 --conf </a:t>
            </a:r>
            <a:r>
              <a:rPr lang="en-US" sz="1400" dirty="0" err="1"/>
              <a:t>fastq_screen.conf</a:t>
            </a:r>
            <a:r>
              <a:rPr lang="en-US" sz="1400" dirty="0"/>
              <a:t> --</a:t>
            </a:r>
            <a:r>
              <a:rPr lang="en-US" sz="1400" dirty="0" err="1"/>
              <a:t>outdir</a:t>
            </a:r>
            <a:r>
              <a:rPr lang="en-US" sz="1400" dirty="0"/>
              <a:t> 01-qc $FASTQ_DIR/EXCITED_3_S6_R2_001.fastq.gz</a:t>
            </a:r>
          </a:p>
          <a:p>
            <a:endParaRPr lang="en-US" sz="1400" dirty="0"/>
          </a:p>
          <a:p>
            <a:r>
              <a:rPr lang="en-US" sz="1400" dirty="0"/>
              <a:t>#-------------------------------------------------------------------------------</a:t>
            </a:r>
          </a:p>
          <a:p>
            <a:r>
              <a:rPr lang="en-US" sz="1400" dirty="0"/>
              <a:t># Step 1b (aggregate QC and other info)</a:t>
            </a:r>
          </a:p>
          <a:p>
            <a:r>
              <a:rPr lang="en-US" sz="1400" dirty="0"/>
              <a:t># </a:t>
            </a:r>
            <a:r>
              <a:rPr lang="en-US" sz="1400" dirty="0" err="1"/>
              <a:t>multiqc</a:t>
            </a:r>
            <a:r>
              <a:rPr lang="en-US" sz="1400" dirty="0"/>
              <a:t> aggregates the analysis from all the </a:t>
            </a:r>
            <a:r>
              <a:rPr lang="en-US" sz="1400" dirty="0" err="1"/>
              <a:t>fastqc</a:t>
            </a:r>
            <a:r>
              <a:rPr lang="en-US" sz="1400" dirty="0"/>
              <a:t> outputs and other processes.</a:t>
            </a:r>
          </a:p>
          <a:p>
            <a:endParaRPr lang="en-US" sz="1400" dirty="0"/>
          </a:p>
          <a:p>
            <a:r>
              <a:rPr lang="en-US" sz="1400" dirty="0" err="1"/>
              <a:t>multiqc</a:t>
            </a:r>
            <a:r>
              <a:rPr lang="en-US" sz="1400" dirty="0"/>
              <a:t> . --</a:t>
            </a:r>
            <a:r>
              <a:rPr lang="en-US" sz="1400" dirty="0" err="1"/>
              <a:t>outdir</a:t>
            </a:r>
            <a:r>
              <a:rPr lang="en-US" sz="1400" dirty="0"/>
              <a:t> 01-qc</a:t>
            </a:r>
          </a:p>
          <a:p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390A96-345A-46D7-9935-2D88BDDC804E}"/>
              </a:ext>
            </a:extLst>
          </p:cNvPr>
          <p:cNvSpPr txBox="1"/>
          <p:nvPr/>
        </p:nvSpPr>
        <p:spPr>
          <a:xfrm>
            <a:off x="5701824" y="820594"/>
            <a:ext cx="649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Fastq</a:t>
            </a:r>
            <a:r>
              <a:rPr lang="en-US" dirty="0">
                <a:solidFill>
                  <a:srgbClr val="FF0000"/>
                </a:solidFill>
              </a:rPr>
              <a:t> _screen checks the reads against multiple organisms.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E65F7-5095-07CB-E245-60B24E5CD28E}"/>
              </a:ext>
            </a:extLst>
          </p:cNvPr>
          <p:cNvSpPr txBox="1"/>
          <p:nvPr/>
        </p:nvSpPr>
        <p:spPr>
          <a:xfrm>
            <a:off x="2410882" y="5364882"/>
            <a:ext cx="4751918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Aggregates all the </a:t>
            </a:r>
            <a:r>
              <a:rPr lang="en-US" dirty="0" err="1">
                <a:solidFill>
                  <a:srgbClr val="FF0000"/>
                </a:solidFill>
              </a:rPr>
              <a:t>Fastqc</a:t>
            </a:r>
            <a:r>
              <a:rPr lang="en-US" dirty="0">
                <a:solidFill>
                  <a:srgbClr val="FF0000"/>
                </a:solidFill>
              </a:rPr>
              <a:t> files for each sample together in a comparable format</a:t>
            </a:r>
          </a:p>
        </p:txBody>
      </p:sp>
    </p:spTree>
    <p:extLst>
      <p:ext uri="{BB962C8B-B14F-4D97-AF65-F5344CB8AC3E}">
        <p14:creationId xmlns:p14="http://schemas.microsoft.com/office/powerpoint/2010/main" val="388848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B354A-431F-DAB6-C31D-C5F0D4CF3FA0}"/>
              </a:ext>
            </a:extLst>
          </p:cNvPr>
          <p:cNvSpPr txBox="1"/>
          <p:nvPr/>
        </p:nvSpPr>
        <p:spPr>
          <a:xfrm>
            <a:off x="259298" y="301533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# Step 2 - Align reads to genome.</a:t>
            </a:r>
          </a:p>
          <a:p>
            <a:endParaRPr lang="en-US" sz="1000" dirty="0"/>
          </a:p>
          <a:p>
            <a:r>
              <a:rPr lang="en-US" sz="1000" dirty="0"/>
              <a:t># Step 2a. Build index from reference genome</a:t>
            </a:r>
          </a:p>
          <a:p>
            <a:r>
              <a:rPr lang="en-US" sz="1000" dirty="0"/>
              <a:t>hisat2-build --threads $SLURM_CPUS_PER_TASK $GENOME_FASTA $INDEX_GENOME_DIR/</a:t>
            </a:r>
            <a:r>
              <a:rPr lang="en-US" sz="1000" dirty="0" err="1"/>
              <a:t>gold_snidget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# Step 2b. Align reads to reference genome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-1 $FASTQ_DIR/BORED_1_S1_R1_001.fastq.gz   -2 $FASTQ_DIR/BORED_1_S1_R2_001.fastq.gz   -S 02-sam/BORED_1.sam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-1 $FASTQ_DIR/BORED_2_S2_R1_001.fastq.gz   -2 $FASTQ_DIR/BORED_2_S2_R2_001.fastq.gz   -S 02-sam/BORED_2.sam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-1 $FASTQ_DIR/BORED_3_S3_R1_001.fastq.gz   -2 $FASTQ_DIR/BORED_3_S3_R2_001.fastq.gz   -S 02-sam/BORED_3.sam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-1 $FASTQ_DIR/EXCITED_1_S4_R1_001.fastq.gz -2 $FASTQ_DIR/EXCITED_1_S4_R2_001.fastq.gz -S 02-sam/EXCITED_1.sam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-1 $FASTQ_DIR/EXCITED_2_S5_R1_001.fastq.gz -2 $FASTQ_DIR/EXCITED_2_S5_R2_001.fastq.gz -S 02-sam/EXCITED_2.sam</a:t>
            </a:r>
          </a:p>
          <a:p>
            <a:r>
              <a:rPr lang="en-US" sz="1000" dirty="0"/>
              <a:t>hisat2 --threads $SLURM_CPUS_PER_TASK -x $INDEX_GENOME_DIR/</a:t>
            </a:r>
            <a:r>
              <a:rPr lang="en-US" sz="1000" dirty="0" err="1"/>
              <a:t>gold_snidget</a:t>
            </a:r>
            <a:r>
              <a:rPr lang="en-US" sz="1000" dirty="0"/>
              <a:t> -1 $FASTQ_DIR/EXCITED_3_S6_R1_001.fastq.gz -2 $FASTQ_DIR/EXCITED_3_S6_R2_001.fastq.gz -S 02-sam/EXCITED_3.sam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CD67E-00B8-B581-97FB-DEA35E965474}"/>
              </a:ext>
            </a:extLst>
          </p:cNvPr>
          <p:cNvSpPr txBox="1"/>
          <p:nvPr/>
        </p:nvSpPr>
        <p:spPr>
          <a:xfrm>
            <a:off x="7702017" y="3232481"/>
            <a:ext cx="3479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Sorting the .</a:t>
            </a:r>
            <a:r>
              <a:rPr lang="en-US" dirty="0" err="1">
                <a:solidFill>
                  <a:srgbClr val="FF0000"/>
                </a:solidFill>
              </a:rPr>
              <a:t>sam</a:t>
            </a:r>
            <a:r>
              <a:rPr lang="en-US" dirty="0">
                <a:solidFill>
                  <a:srgbClr val="FF0000"/>
                </a:solidFill>
              </a:rPr>
              <a:t> files and converting to .bam files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Indexing the .bam files for downstream processes.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16F78-FF0F-1C91-0A07-54C1A6F2A4D2}"/>
              </a:ext>
            </a:extLst>
          </p:cNvPr>
          <p:cNvSpPr txBox="1"/>
          <p:nvPr/>
        </p:nvSpPr>
        <p:spPr>
          <a:xfrm>
            <a:off x="243002" y="2933022"/>
            <a:ext cx="73724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 Step 3a. - sort your aligned reads. Output is a .bam file.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02-sam/BORED_1.sam &gt; 03-bam/BORED_1.bam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02-sam/BORED_2.sam &gt; 03-bam/BORED_2.bam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02-sam/BORED_3.sam &gt; 03-bam/BORED_3.bam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02-sam/EXCITED_1.sam &gt; 03-bam/EXCITED_1.bam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02-sam/EXCITED_2.sam &gt; 03-bam/EXCITED_2.bam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sort --threads 12 02-sam/EXCITED_3.sam &gt; 03-bam/EXCITED_3.bam</a:t>
            </a:r>
          </a:p>
          <a:p>
            <a:endParaRPr lang="en-US" sz="1600" dirty="0"/>
          </a:p>
          <a:p>
            <a:r>
              <a:rPr lang="en-US" sz="1600" dirty="0"/>
              <a:t># Step 3b. - index the SAM files (needed for some applications)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03-bam/BORED_1.bam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03-bam/BORED_2.bam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03-bam/BORED_3.bam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03-bam/EXCITED_1.bam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03-bam/EXCITED_2.bam</a:t>
            </a:r>
          </a:p>
          <a:p>
            <a:r>
              <a:rPr lang="en-US" sz="1600" dirty="0" err="1"/>
              <a:t>samtools</a:t>
            </a:r>
            <a:r>
              <a:rPr lang="en-US" sz="1600" dirty="0"/>
              <a:t> index 03-bam/EXCITED_3.bam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47109-CFE7-919E-927C-E2ED1A5F7009}"/>
              </a:ext>
            </a:extLst>
          </p:cNvPr>
          <p:cNvSpPr txBox="1"/>
          <p:nvPr/>
        </p:nvSpPr>
        <p:spPr>
          <a:xfrm>
            <a:off x="6767018" y="301533"/>
            <a:ext cx="5165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Reference genome must be index into smaller files that make easier to align reads.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BF46A-E3B6-DAF2-4F0E-A616F8941F04}"/>
              </a:ext>
            </a:extLst>
          </p:cNvPr>
          <p:cNvSpPr txBox="1"/>
          <p:nvPr/>
        </p:nvSpPr>
        <p:spPr>
          <a:xfrm>
            <a:off x="5090315" y="2240525"/>
            <a:ext cx="66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Aligning .</a:t>
            </a:r>
            <a:r>
              <a:rPr lang="en-US" dirty="0" err="1">
                <a:solidFill>
                  <a:srgbClr val="FF0000"/>
                </a:solidFill>
              </a:rPr>
              <a:t>fastq</a:t>
            </a:r>
            <a:r>
              <a:rPr lang="en-US" dirty="0">
                <a:solidFill>
                  <a:srgbClr val="FF0000"/>
                </a:solidFill>
              </a:rPr>
              <a:t> files reads to reference genome to make .</a:t>
            </a:r>
            <a:r>
              <a:rPr lang="en-US" dirty="0" err="1">
                <a:solidFill>
                  <a:srgbClr val="FF0000"/>
                </a:solidFill>
              </a:rPr>
              <a:t>sam</a:t>
            </a:r>
            <a:r>
              <a:rPr lang="en-US" dirty="0">
                <a:solidFill>
                  <a:srgbClr val="FF0000"/>
                </a:solidFill>
              </a:rPr>
              <a:t>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2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5CF68B-C588-1F99-B757-2110CB6BD40E}"/>
              </a:ext>
            </a:extLst>
          </p:cNvPr>
          <p:cNvSpPr txBox="1"/>
          <p:nvPr/>
        </p:nvSpPr>
        <p:spPr>
          <a:xfrm>
            <a:off x="660616" y="1443841"/>
            <a:ext cx="83845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Step 4 - Create count matrix</a:t>
            </a:r>
          </a:p>
          <a:p>
            <a:endParaRPr lang="en-US" dirty="0"/>
          </a:p>
          <a:p>
            <a:r>
              <a:rPr lang="en-US" dirty="0" err="1"/>
              <a:t>featureCounts</a:t>
            </a:r>
            <a:r>
              <a:rPr lang="en-US" dirty="0"/>
              <a:t> \</a:t>
            </a:r>
          </a:p>
          <a:p>
            <a:r>
              <a:rPr lang="en-US" dirty="0"/>
              <a:t>    -T $SLURM_CPUS_PER_TASK \</a:t>
            </a:r>
          </a:p>
          <a:p>
            <a:r>
              <a:rPr lang="en-US" dirty="0"/>
              <a:t>    -p \</a:t>
            </a:r>
          </a:p>
          <a:p>
            <a:r>
              <a:rPr lang="en-US" dirty="0"/>
              <a:t>    -a $ANNOTATION_FILE \</a:t>
            </a:r>
          </a:p>
          <a:p>
            <a:r>
              <a:rPr lang="en-US" dirty="0"/>
              <a:t>    -o 04-raw_counts/</a:t>
            </a:r>
            <a:r>
              <a:rPr lang="en-US" dirty="0" err="1"/>
              <a:t>counts.txt</a:t>
            </a:r>
            <a:r>
              <a:rPr lang="en-US" dirty="0"/>
              <a:t> \</a:t>
            </a:r>
          </a:p>
          <a:p>
            <a:r>
              <a:rPr lang="en-US" dirty="0"/>
              <a:t>    03-bam/BORED_1.bam \</a:t>
            </a:r>
          </a:p>
          <a:p>
            <a:r>
              <a:rPr lang="en-US" dirty="0"/>
              <a:t>    03-bam/BORED_2.bam \</a:t>
            </a:r>
          </a:p>
          <a:p>
            <a:r>
              <a:rPr lang="en-US" dirty="0"/>
              <a:t>    03-bam/BORED_3.bam \</a:t>
            </a:r>
          </a:p>
          <a:p>
            <a:r>
              <a:rPr lang="en-US" dirty="0"/>
              <a:t>    03-bam/EXCITED_1.bam \</a:t>
            </a:r>
          </a:p>
          <a:p>
            <a:r>
              <a:rPr lang="en-US" dirty="0"/>
              <a:t>    03-bam/EXCITED_2.bam \</a:t>
            </a:r>
          </a:p>
          <a:p>
            <a:r>
              <a:rPr lang="en-US" dirty="0"/>
              <a:t>    03-bam/EXCITED_3.bam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B7059-4108-6EA4-3503-E7F4060B39EB}"/>
              </a:ext>
            </a:extLst>
          </p:cNvPr>
          <p:cNvSpPr txBox="1"/>
          <p:nvPr/>
        </p:nvSpPr>
        <p:spPr>
          <a:xfrm>
            <a:off x="5342166" y="2828835"/>
            <a:ext cx="6189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 your genome feature/annotation file to count how many reads mapped to each gene.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F609-1FD8-6A76-04D6-6399F8FC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Aligners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9F02-C0D2-A398-EA83-CAD1C636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Splice-Aware Genome Aligners – STAR, HISAT2</a:t>
            </a:r>
          </a:p>
          <a:p>
            <a:pPr>
              <a:lnSpc>
                <a:spcPct val="150000"/>
              </a:lnSpc>
            </a:pPr>
            <a:r>
              <a:rPr lang="en-US" dirty="0"/>
              <a:t>Transcriptome Aligners (Pseudo/Quasi-Aligners) – Salmon, </a:t>
            </a:r>
            <a:r>
              <a:rPr lang="en-US" dirty="0" err="1"/>
              <a:t>kallisto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Transcriptome-Guided Genome Aligners - HISAT2 (with GTF)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105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8932-B93D-E908-9912-8C58AC16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Checklist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BC065-C6B9-35B3-3E02-588CAF41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</a:t>
            </a:r>
            <a:r>
              <a:rPr lang="en-US" dirty="0" err="1"/>
              <a:t>FastQC</a:t>
            </a:r>
            <a:r>
              <a:rPr lang="en-US" dirty="0"/>
              <a:t> files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</a:t>
            </a:r>
            <a:r>
              <a:rPr lang="en-US" dirty="0" err="1"/>
              <a:t>MultiQC</a:t>
            </a:r>
            <a:r>
              <a:rPr lang="en-US" dirty="0"/>
              <a:t> files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SAM files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Sorted BAM files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BAM File in JBROWSE2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   Count matrix! And Summary file!</a:t>
            </a:r>
          </a:p>
        </p:txBody>
      </p:sp>
    </p:spTree>
    <p:extLst>
      <p:ext uri="{BB962C8B-B14F-4D97-AF65-F5344CB8AC3E}">
        <p14:creationId xmlns:p14="http://schemas.microsoft.com/office/powerpoint/2010/main" val="305289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2769</Words>
  <Application>Microsoft Macintosh PowerPoint</Application>
  <PresentationFormat>Widescreen</PresentationFormat>
  <Paragraphs>233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Lecture 3</vt:lpstr>
      <vt:lpstr>Let’s get started!</vt:lpstr>
      <vt:lpstr>Bulk RNA-seq steps</vt:lpstr>
      <vt:lpstr>PowerPoint Presentation</vt:lpstr>
      <vt:lpstr>Let’s go over the data</vt:lpstr>
      <vt:lpstr>PowerPoint Presentation</vt:lpstr>
      <vt:lpstr>Example FASTQ</vt:lpstr>
      <vt:lpstr>Phred score </vt:lpstr>
      <vt:lpstr>Let’s submit the script!</vt:lpstr>
      <vt:lpstr>Let’s submit the script!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Aligners and Methods</vt:lpstr>
      <vt:lpstr>Output Checklist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Cabello, Eleana   (HSC)</dc:creator>
  <cp:lastModifiedBy>Cabello, Eleana   (HSC)</cp:lastModifiedBy>
  <cp:revision>15</cp:revision>
  <dcterms:created xsi:type="dcterms:W3CDTF">2026-05-21T20:38:14Z</dcterms:created>
  <dcterms:modified xsi:type="dcterms:W3CDTF">2026-05-26T17:36:05Z</dcterms:modified>
</cp:coreProperties>
</file>