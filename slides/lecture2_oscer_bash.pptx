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7" r:id="rId3"/>
    <p:sldId id="257" r:id="rId4"/>
    <p:sldId id="258" r:id="rId5"/>
    <p:sldId id="275" r:id="rId6"/>
    <p:sldId id="259" r:id="rId7"/>
    <p:sldId id="261" r:id="rId8"/>
    <p:sldId id="276" r:id="rId9"/>
    <p:sldId id="278" r:id="rId10"/>
    <p:sldId id="260" r:id="rId11"/>
    <p:sldId id="268" r:id="rId12"/>
    <p:sldId id="262" r:id="rId13"/>
    <p:sldId id="269" r:id="rId14"/>
    <p:sldId id="265" r:id="rId15"/>
    <p:sldId id="267" r:id="rId16"/>
    <p:sldId id="279" r:id="rId17"/>
    <p:sldId id="273" r:id="rId18"/>
    <p:sldId id="270"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99"/>
    <p:restoredTop sz="94737"/>
  </p:normalViewPr>
  <p:slideViewPr>
    <p:cSldViewPr snapToGrid="0">
      <p:cViewPr varScale="1">
        <p:scale>
          <a:sx n="85" d="100"/>
          <a:sy n="85"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4F997D-9861-7645-8A02-80B9CF94F8EE}"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66644-58F4-A54D-A480-F413FF29929B}" type="slidenum">
              <a:rPr lang="en-US" smtClean="0"/>
              <a:t>‹#›</a:t>
            </a:fld>
            <a:endParaRPr lang="en-US"/>
          </a:p>
        </p:txBody>
      </p:sp>
    </p:spTree>
    <p:extLst>
      <p:ext uri="{BB962C8B-B14F-4D97-AF65-F5344CB8AC3E}">
        <p14:creationId xmlns:p14="http://schemas.microsoft.com/office/powerpoint/2010/main" val="2545756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mins</a:t>
            </a:r>
          </a:p>
        </p:txBody>
      </p:sp>
      <p:sp>
        <p:nvSpPr>
          <p:cNvPr id="4" name="Slide Number Placeholder 3"/>
          <p:cNvSpPr>
            <a:spLocks noGrp="1"/>
          </p:cNvSpPr>
          <p:nvPr>
            <p:ph type="sldNum" sz="quarter" idx="5"/>
          </p:nvPr>
        </p:nvSpPr>
        <p:spPr/>
        <p:txBody>
          <a:bodyPr/>
          <a:lstStyle/>
          <a:p>
            <a:fld id="{7A566644-58F4-A54D-A480-F413FF29929B}" type="slidenum">
              <a:rPr lang="en-US" smtClean="0"/>
              <a:t>2</a:t>
            </a:fld>
            <a:endParaRPr lang="en-US"/>
          </a:p>
        </p:txBody>
      </p:sp>
    </p:spTree>
    <p:extLst>
      <p:ext uri="{BB962C8B-B14F-4D97-AF65-F5344CB8AC3E}">
        <p14:creationId xmlns:p14="http://schemas.microsoft.com/office/powerpoint/2010/main" val="2057591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3mins</a:t>
            </a:r>
          </a:p>
        </p:txBody>
      </p:sp>
      <p:sp>
        <p:nvSpPr>
          <p:cNvPr id="4" name="Slide Number Placeholder 3"/>
          <p:cNvSpPr>
            <a:spLocks noGrp="1"/>
          </p:cNvSpPr>
          <p:nvPr>
            <p:ph type="sldNum" sz="quarter" idx="5"/>
          </p:nvPr>
        </p:nvSpPr>
        <p:spPr/>
        <p:txBody>
          <a:bodyPr/>
          <a:lstStyle/>
          <a:p>
            <a:fld id="{7A566644-58F4-A54D-A480-F413FF29929B}" type="slidenum">
              <a:rPr lang="en-US" smtClean="0"/>
              <a:t>3</a:t>
            </a:fld>
            <a:endParaRPr lang="en-US"/>
          </a:p>
        </p:txBody>
      </p:sp>
    </p:spTree>
    <p:extLst>
      <p:ext uri="{BB962C8B-B14F-4D97-AF65-F5344CB8AC3E}">
        <p14:creationId xmlns:p14="http://schemas.microsoft.com/office/powerpoint/2010/main" val="3648539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mins</a:t>
            </a:r>
          </a:p>
        </p:txBody>
      </p:sp>
      <p:sp>
        <p:nvSpPr>
          <p:cNvPr id="4" name="Slide Number Placeholder 3"/>
          <p:cNvSpPr>
            <a:spLocks noGrp="1"/>
          </p:cNvSpPr>
          <p:nvPr>
            <p:ph type="sldNum" sz="quarter" idx="5"/>
          </p:nvPr>
        </p:nvSpPr>
        <p:spPr/>
        <p:txBody>
          <a:bodyPr/>
          <a:lstStyle/>
          <a:p>
            <a:fld id="{7A566644-58F4-A54D-A480-F413FF29929B}" type="slidenum">
              <a:rPr lang="en-US" smtClean="0"/>
              <a:t>4</a:t>
            </a:fld>
            <a:endParaRPr lang="en-US"/>
          </a:p>
        </p:txBody>
      </p:sp>
    </p:spTree>
    <p:extLst>
      <p:ext uri="{BB962C8B-B14F-4D97-AF65-F5344CB8AC3E}">
        <p14:creationId xmlns:p14="http://schemas.microsoft.com/office/powerpoint/2010/main" val="540029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a:t>
            </a:r>
          </a:p>
        </p:txBody>
      </p:sp>
      <p:sp>
        <p:nvSpPr>
          <p:cNvPr id="4" name="Slide Number Placeholder 3"/>
          <p:cNvSpPr>
            <a:spLocks noGrp="1"/>
          </p:cNvSpPr>
          <p:nvPr>
            <p:ph type="sldNum" sz="quarter" idx="5"/>
          </p:nvPr>
        </p:nvSpPr>
        <p:spPr/>
        <p:txBody>
          <a:bodyPr/>
          <a:lstStyle/>
          <a:p>
            <a:fld id="{7A566644-58F4-A54D-A480-F413FF29929B}" type="slidenum">
              <a:rPr lang="en-US" smtClean="0"/>
              <a:t>5</a:t>
            </a:fld>
            <a:endParaRPr lang="en-US"/>
          </a:p>
        </p:txBody>
      </p:sp>
    </p:spTree>
    <p:extLst>
      <p:ext uri="{BB962C8B-B14F-4D97-AF65-F5344CB8AC3E}">
        <p14:creationId xmlns:p14="http://schemas.microsoft.com/office/powerpoint/2010/main" val="2931936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a:t>
            </a:r>
          </a:p>
        </p:txBody>
      </p:sp>
      <p:sp>
        <p:nvSpPr>
          <p:cNvPr id="4" name="Slide Number Placeholder 3"/>
          <p:cNvSpPr>
            <a:spLocks noGrp="1"/>
          </p:cNvSpPr>
          <p:nvPr>
            <p:ph type="sldNum" sz="quarter" idx="5"/>
          </p:nvPr>
        </p:nvSpPr>
        <p:spPr/>
        <p:txBody>
          <a:bodyPr/>
          <a:lstStyle/>
          <a:p>
            <a:fld id="{7A566644-58F4-A54D-A480-F413FF29929B}" type="slidenum">
              <a:rPr lang="en-US" smtClean="0"/>
              <a:t>6</a:t>
            </a:fld>
            <a:endParaRPr lang="en-US"/>
          </a:p>
        </p:txBody>
      </p:sp>
    </p:spTree>
    <p:extLst>
      <p:ext uri="{BB962C8B-B14F-4D97-AF65-F5344CB8AC3E}">
        <p14:creationId xmlns:p14="http://schemas.microsoft.com/office/powerpoint/2010/main" val="2797187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a:t>
            </a:r>
          </a:p>
        </p:txBody>
      </p:sp>
      <p:sp>
        <p:nvSpPr>
          <p:cNvPr id="4" name="Slide Number Placeholder 3"/>
          <p:cNvSpPr>
            <a:spLocks noGrp="1"/>
          </p:cNvSpPr>
          <p:nvPr>
            <p:ph type="sldNum" sz="quarter" idx="5"/>
          </p:nvPr>
        </p:nvSpPr>
        <p:spPr/>
        <p:txBody>
          <a:bodyPr/>
          <a:lstStyle/>
          <a:p>
            <a:fld id="{7A566644-58F4-A54D-A480-F413FF29929B}" type="slidenum">
              <a:rPr lang="en-US" smtClean="0"/>
              <a:t>8</a:t>
            </a:fld>
            <a:endParaRPr lang="en-US"/>
          </a:p>
        </p:txBody>
      </p:sp>
    </p:spTree>
    <p:extLst>
      <p:ext uri="{BB962C8B-B14F-4D97-AF65-F5344CB8AC3E}">
        <p14:creationId xmlns:p14="http://schemas.microsoft.com/office/powerpoint/2010/main" val="522736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a:t>
            </a:r>
          </a:p>
        </p:txBody>
      </p:sp>
      <p:sp>
        <p:nvSpPr>
          <p:cNvPr id="4" name="Slide Number Placeholder 3"/>
          <p:cNvSpPr>
            <a:spLocks noGrp="1"/>
          </p:cNvSpPr>
          <p:nvPr>
            <p:ph type="sldNum" sz="quarter" idx="5"/>
          </p:nvPr>
        </p:nvSpPr>
        <p:spPr/>
        <p:txBody>
          <a:bodyPr/>
          <a:lstStyle/>
          <a:p>
            <a:fld id="{7A566644-58F4-A54D-A480-F413FF29929B}" type="slidenum">
              <a:rPr lang="en-US" smtClean="0"/>
              <a:t>9</a:t>
            </a:fld>
            <a:endParaRPr lang="en-US"/>
          </a:p>
        </p:txBody>
      </p:sp>
    </p:spTree>
    <p:extLst>
      <p:ext uri="{BB962C8B-B14F-4D97-AF65-F5344CB8AC3E}">
        <p14:creationId xmlns:p14="http://schemas.microsoft.com/office/powerpoint/2010/main" val="2815323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a:t>
            </a:r>
          </a:p>
        </p:txBody>
      </p:sp>
      <p:sp>
        <p:nvSpPr>
          <p:cNvPr id="4" name="Slide Number Placeholder 3"/>
          <p:cNvSpPr>
            <a:spLocks noGrp="1"/>
          </p:cNvSpPr>
          <p:nvPr>
            <p:ph type="sldNum" sz="quarter" idx="5"/>
          </p:nvPr>
        </p:nvSpPr>
        <p:spPr/>
        <p:txBody>
          <a:bodyPr/>
          <a:lstStyle/>
          <a:p>
            <a:fld id="{7A566644-58F4-A54D-A480-F413FF29929B}" type="slidenum">
              <a:rPr lang="en-US" smtClean="0"/>
              <a:t>10</a:t>
            </a:fld>
            <a:endParaRPr lang="en-US"/>
          </a:p>
        </p:txBody>
      </p:sp>
    </p:spTree>
    <p:extLst>
      <p:ext uri="{BB962C8B-B14F-4D97-AF65-F5344CB8AC3E}">
        <p14:creationId xmlns:p14="http://schemas.microsoft.com/office/powerpoint/2010/main" val="3555758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8min</a:t>
            </a:r>
          </a:p>
        </p:txBody>
      </p:sp>
      <p:sp>
        <p:nvSpPr>
          <p:cNvPr id="4" name="Slide Number Placeholder 3"/>
          <p:cNvSpPr>
            <a:spLocks noGrp="1"/>
          </p:cNvSpPr>
          <p:nvPr>
            <p:ph type="sldNum" sz="quarter" idx="5"/>
          </p:nvPr>
        </p:nvSpPr>
        <p:spPr/>
        <p:txBody>
          <a:bodyPr/>
          <a:lstStyle/>
          <a:p>
            <a:fld id="{7A566644-58F4-A54D-A480-F413FF29929B}" type="slidenum">
              <a:rPr lang="en-US" smtClean="0"/>
              <a:t>11</a:t>
            </a:fld>
            <a:endParaRPr lang="en-US"/>
          </a:p>
        </p:txBody>
      </p:sp>
    </p:spTree>
    <p:extLst>
      <p:ext uri="{BB962C8B-B14F-4D97-AF65-F5344CB8AC3E}">
        <p14:creationId xmlns:p14="http://schemas.microsoft.com/office/powerpoint/2010/main" val="2550427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a:t>
            </a:r>
          </a:p>
        </p:txBody>
      </p:sp>
      <p:sp>
        <p:nvSpPr>
          <p:cNvPr id="4" name="Slide Number Placeholder 3"/>
          <p:cNvSpPr>
            <a:spLocks noGrp="1"/>
          </p:cNvSpPr>
          <p:nvPr>
            <p:ph type="sldNum" sz="quarter" idx="5"/>
          </p:nvPr>
        </p:nvSpPr>
        <p:spPr/>
        <p:txBody>
          <a:bodyPr/>
          <a:lstStyle/>
          <a:p>
            <a:fld id="{7A566644-58F4-A54D-A480-F413FF29929B}" type="slidenum">
              <a:rPr lang="en-US" smtClean="0"/>
              <a:t>12</a:t>
            </a:fld>
            <a:endParaRPr lang="en-US"/>
          </a:p>
        </p:txBody>
      </p:sp>
    </p:spTree>
    <p:extLst>
      <p:ext uri="{BB962C8B-B14F-4D97-AF65-F5344CB8AC3E}">
        <p14:creationId xmlns:p14="http://schemas.microsoft.com/office/powerpoint/2010/main" val="294719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a:t>
            </a:r>
          </a:p>
        </p:txBody>
      </p:sp>
      <p:sp>
        <p:nvSpPr>
          <p:cNvPr id="4" name="Slide Number Placeholder 3"/>
          <p:cNvSpPr>
            <a:spLocks noGrp="1"/>
          </p:cNvSpPr>
          <p:nvPr>
            <p:ph type="sldNum" sz="quarter" idx="5"/>
          </p:nvPr>
        </p:nvSpPr>
        <p:spPr/>
        <p:txBody>
          <a:bodyPr/>
          <a:lstStyle/>
          <a:p>
            <a:fld id="{7A566644-58F4-A54D-A480-F413FF29929B}" type="slidenum">
              <a:rPr lang="en-US" smtClean="0"/>
              <a:t>13</a:t>
            </a:fld>
            <a:endParaRPr lang="en-US"/>
          </a:p>
        </p:txBody>
      </p:sp>
    </p:spTree>
    <p:extLst>
      <p:ext uri="{BB962C8B-B14F-4D97-AF65-F5344CB8AC3E}">
        <p14:creationId xmlns:p14="http://schemas.microsoft.com/office/powerpoint/2010/main" val="1121471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a:t>
            </a:r>
          </a:p>
        </p:txBody>
      </p:sp>
      <p:sp>
        <p:nvSpPr>
          <p:cNvPr id="4" name="Slide Number Placeholder 3"/>
          <p:cNvSpPr>
            <a:spLocks noGrp="1"/>
          </p:cNvSpPr>
          <p:nvPr>
            <p:ph type="sldNum" sz="quarter" idx="5"/>
          </p:nvPr>
        </p:nvSpPr>
        <p:spPr/>
        <p:txBody>
          <a:bodyPr/>
          <a:lstStyle/>
          <a:p>
            <a:fld id="{7A566644-58F4-A54D-A480-F413FF29929B}" type="slidenum">
              <a:rPr lang="en-US" smtClean="0"/>
              <a:t>14</a:t>
            </a:fld>
            <a:endParaRPr lang="en-US"/>
          </a:p>
        </p:txBody>
      </p:sp>
    </p:spTree>
    <p:extLst>
      <p:ext uri="{BB962C8B-B14F-4D97-AF65-F5344CB8AC3E}">
        <p14:creationId xmlns:p14="http://schemas.microsoft.com/office/powerpoint/2010/main" val="2683014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a:t>
            </a:r>
          </a:p>
        </p:txBody>
      </p:sp>
      <p:sp>
        <p:nvSpPr>
          <p:cNvPr id="4" name="Slide Number Placeholder 3"/>
          <p:cNvSpPr>
            <a:spLocks noGrp="1"/>
          </p:cNvSpPr>
          <p:nvPr>
            <p:ph type="sldNum" sz="quarter" idx="5"/>
          </p:nvPr>
        </p:nvSpPr>
        <p:spPr/>
        <p:txBody>
          <a:bodyPr/>
          <a:lstStyle/>
          <a:p>
            <a:fld id="{7A566644-58F4-A54D-A480-F413FF29929B}" type="slidenum">
              <a:rPr lang="en-US" smtClean="0"/>
              <a:t>16</a:t>
            </a:fld>
            <a:endParaRPr lang="en-US"/>
          </a:p>
        </p:txBody>
      </p:sp>
    </p:spTree>
    <p:extLst>
      <p:ext uri="{BB962C8B-B14F-4D97-AF65-F5344CB8AC3E}">
        <p14:creationId xmlns:p14="http://schemas.microsoft.com/office/powerpoint/2010/main" val="3394169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a:t>
            </a:r>
          </a:p>
        </p:txBody>
      </p:sp>
      <p:sp>
        <p:nvSpPr>
          <p:cNvPr id="4" name="Slide Number Placeholder 3"/>
          <p:cNvSpPr>
            <a:spLocks noGrp="1"/>
          </p:cNvSpPr>
          <p:nvPr>
            <p:ph type="sldNum" sz="quarter" idx="5"/>
          </p:nvPr>
        </p:nvSpPr>
        <p:spPr/>
        <p:txBody>
          <a:bodyPr/>
          <a:lstStyle/>
          <a:p>
            <a:fld id="{7A566644-58F4-A54D-A480-F413FF29929B}" type="slidenum">
              <a:rPr lang="en-US" smtClean="0"/>
              <a:t>17</a:t>
            </a:fld>
            <a:endParaRPr lang="en-US"/>
          </a:p>
        </p:txBody>
      </p:sp>
    </p:spTree>
    <p:extLst>
      <p:ext uri="{BB962C8B-B14F-4D97-AF65-F5344CB8AC3E}">
        <p14:creationId xmlns:p14="http://schemas.microsoft.com/office/powerpoint/2010/main" val="3175063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a:t>
            </a:r>
          </a:p>
        </p:txBody>
      </p:sp>
      <p:sp>
        <p:nvSpPr>
          <p:cNvPr id="4" name="Slide Number Placeholder 3"/>
          <p:cNvSpPr>
            <a:spLocks noGrp="1"/>
          </p:cNvSpPr>
          <p:nvPr>
            <p:ph type="sldNum" sz="quarter" idx="5"/>
          </p:nvPr>
        </p:nvSpPr>
        <p:spPr/>
        <p:txBody>
          <a:bodyPr/>
          <a:lstStyle/>
          <a:p>
            <a:fld id="{7A566644-58F4-A54D-A480-F413FF29929B}" type="slidenum">
              <a:rPr lang="en-US" smtClean="0"/>
              <a:t>18</a:t>
            </a:fld>
            <a:endParaRPr lang="en-US"/>
          </a:p>
        </p:txBody>
      </p:sp>
    </p:spTree>
    <p:extLst>
      <p:ext uri="{BB962C8B-B14F-4D97-AF65-F5344CB8AC3E}">
        <p14:creationId xmlns:p14="http://schemas.microsoft.com/office/powerpoint/2010/main" val="2062875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a:t>
            </a:r>
          </a:p>
        </p:txBody>
      </p:sp>
      <p:sp>
        <p:nvSpPr>
          <p:cNvPr id="4" name="Slide Number Placeholder 3"/>
          <p:cNvSpPr>
            <a:spLocks noGrp="1"/>
          </p:cNvSpPr>
          <p:nvPr>
            <p:ph type="sldNum" sz="quarter" idx="5"/>
          </p:nvPr>
        </p:nvSpPr>
        <p:spPr/>
        <p:txBody>
          <a:bodyPr/>
          <a:lstStyle/>
          <a:p>
            <a:fld id="{7A566644-58F4-A54D-A480-F413FF29929B}" type="slidenum">
              <a:rPr lang="en-US" smtClean="0"/>
              <a:t>19</a:t>
            </a:fld>
            <a:endParaRPr lang="en-US"/>
          </a:p>
        </p:txBody>
      </p:sp>
    </p:spTree>
    <p:extLst>
      <p:ext uri="{BB962C8B-B14F-4D97-AF65-F5344CB8AC3E}">
        <p14:creationId xmlns:p14="http://schemas.microsoft.com/office/powerpoint/2010/main" val="605079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C74F-726D-D1B3-8077-15178BD4E5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EB52F3-D097-099D-6175-F9421B163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6CFFE7-36E4-8D0D-F64D-EA1AC4682B36}"/>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8745D07A-9E74-9D9A-D25B-E23E81A37E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3F793-720C-B5CA-7BC0-434986C60870}"/>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34651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03F4-57E4-00FA-9EBF-C473D3F445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197A7-0E41-1B42-57FC-56935AEF8A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D01B39-B714-7BB8-E8B7-343067300800}"/>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F295D933-E683-D146-87C5-332ED9D48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50C18-9BEC-246F-D563-D2667661EB84}"/>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30097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CFF3E-E576-8D9F-7A34-7030E776A2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1D4A09-6DE0-933F-05B7-4282E80C47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67C248-75F5-22AA-386C-B2FA96B8B0D5}"/>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137B46D0-48B8-4135-463A-53762CFF1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CDA17-B232-450A-4E96-A2D56CAAF311}"/>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2267540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9FC2-40B8-23A4-71A7-A1344E34CE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CA7768-A346-8B18-B19E-E3464AFB30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D73F2D-5272-1F7D-A800-14E6043349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B7FC4D-B992-4108-9E42-688277F49CB2}"/>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6" name="Footer Placeholder 5">
            <a:extLst>
              <a:ext uri="{FF2B5EF4-FFF2-40B4-BE49-F238E27FC236}">
                <a16:creationId xmlns:a16="http://schemas.microsoft.com/office/drawing/2014/main" id="{E2F4C612-14AB-C2CE-BFFC-6BB132C3E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8CB0B-0A5D-A104-2289-6018403E8471}"/>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3144269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EEAD-9773-0C54-6245-2A5A2A919E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C9469E-8260-483B-19F0-7991F699E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27AE3-9E0F-3836-49A2-F11E4C1D7D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0D4728-194F-9586-70DD-5D9B84091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9A46F8-221F-3EFA-743D-45106F921C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1056A1-510C-A263-E132-3AC6B1010FD5}"/>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8" name="Footer Placeholder 7">
            <a:extLst>
              <a:ext uri="{FF2B5EF4-FFF2-40B4-BE49-F238E27FC236}">
                <a16:creationId xmlns:a16="http://schemas.microsoft.com/office/drawing/2014/main" id="{2764D3FA-902D-9655-4008-577E387385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C34E8E-36EE-10F3-30D8-6781B5632625}"/>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254499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79440-D8A6-4528-CBBB-37BC858DCD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46B358-5584-A07B-5153-B4B4F701D3A2}"/>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4" name="Footer Placeholder 3">
            <a:extLst>
              <a:ext uri="{FF2B5EF4-FFF2-40B4-BE49-F238E27FC236}">
                <a16:creationId xmlns:a16="http://schemas.microsoft.com/office/drawing/2014/main" id="{7337016B-2AB2-2680-C373-25FA57860F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CBFF6D-0CCE-F18D-2C77-2067B9C765ED}"/>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1309407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C4D31D-E075-8A1A-446E-4155CADFEDA1}"/>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3" name="Footer Placeholder 2">
            <a:extLst>
              <a:ext uri="{FF2B5EF4-FFF2-40B4-BE49-F238E27FC236}">
                <a16:creationId xmlns:a16="http://schemas.microsoft.com/office/drawing/2014/main" id="{5B254534-F0B2-5919-70CF-7E12DE815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22BCC2-F4EB-AEEB-633C-5F8EBD6F453B}"/>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336735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E9BC-EEA8-CC18-50AD-FBDEAB912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A8E6BE-77F3-0795-010B-8F91EE0E86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38E98C-A9AF-FFEE-797D-434B703E60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31D516-A700-8062-3088-306C6712DDDB}"/>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6" name="Footer Placeholder 5">
            <a:extLst>
              <a:ext uri="{FF2B5EF4-FFF2-40B4-BE49-F238E27FC236}">
                <a16:creationId xmlns:a16="http://schemas.microsoft.com/office/drawing/2014/main" id="{C60428E5-0379-81AD-8CA7-3C47F93DF1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4BF09-E22C-B76A-1C3C-3EB9CA89E2F4}"/>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882133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C5F0-C7B7-296E-F2A4-3BC1B0622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8583C2-0C41-0BF9-8787-289164D6E8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FFEAF3-AA30-59B2-3D24-B2C2229B0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CE80E-237D-6FF2-4C3E-CC34040417DF}"/>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6" name="Footer Placeholder 5">
            <a:extLst>
              <a:ext uri="{FF2B5EF4-FFF2-40B4-BE49-F238E27FC236}">
                <a16:creationId xmlns:a16="http://schemas.microsoft.com/office/drawing/2014/main" id="{3E86529C-83C0-4330-47CB-6CD026BC49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6F65D8-9F8A-A2FA-6B83-32E2E6ABC712}"/>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3475090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F56D-B38B-9444-4DB0-5494733FDC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5178FA-AB30-16AF-C9AC-CB721E4777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173139-F51A-E494-6E62-006C8BEAB222}"/>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4193550B-46B7-A181-22EB-FF6D090B1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2C8B2-3EA0-1310-B905-F9C266726E45}"/>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1147730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37E2A4-7034-EE0D-56CC-18B95FCC26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77CA7B-2F67-00F0-28EC-F81CE4DA90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266396-8F3F-9359-5CAA-F7507DF9E01C}"/>
              </a:ext>
            </a:extLst>
          </p:cNvPr>
          <p:cNvSpPr>
            <a:spLocks noGrp="1"/>
          </p:cNvSpPr>
          <p:nvPr>
            <p:ph type="dt" sz="half" idx="10"/>
          </p:nvPr>
        </p:nvSpPr>
        <p:spPr/>
        <p:txBody>
          <a:body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4F496C88-8C9B-AE86-AF65-99F1BF383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5963E-BA95-F5A9-26E5-A1FB600CDE92}"/>
              </a:ext>
            </a:extLst>
          </p:cNvPr>
          <p:cNvSpPr>
            <a:spLocks noGrp="1"/>
          </p:cNvSpPr>
          <p:nvPr>
            <p:ph type="sldNum" sz="quarter" idx="12"/>
          </p:nvPr>
        </p:nvSpPr>
        <p:spPr/>
        <p:txBody>
          <a:bodyPr/>
          <a:lstStyle/>
          <a:p>
            <a:fld id="{DE140342-3A7D-8044-9E35-017AD9F8D970}" type="slidenum">
              <a:rPr lang="en-US" smtClean="0"/>
              <a:t>‹#›</a:t>
            </a:fld>
            <a:endParaRPr lang="en-US"/>
          </a:p>
        </p:txBody>
      </p:sp>
    </p:spTree>
    <p:extLst>
      <p:ext uri="{BB962C8B-B14F-4D97-AF65-F5344CB8AC3E}">
        <p14:creationId xmlns:p14="http://schemas.microsoft.com/office/powerpoint/2010/main" val="660445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B54412-350D-F167-A58B-8A257AC3D8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7F7051-ED1F-3EDC-5D79-89DBC3E78B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A6C0F-27AA-9B73-000E-50CEA4119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21107B-F173-1249-8BED-F650350BDB11}" type="datetimeFigureOut">
              <a:rPr lang="en-US" smtClean="0"/>
              <a:t>5/26/26</a:t>
            </a:fld>
            <a:endParaRPr lang="en-US"/>
          </a:p>
        </p:txBody>
      </p:sp>
      <p:sp>
        <p:nvSpPr>
          <p:cNvPr id="5" name="Footer Placeholder 4">
            <a:extLst>
              <a:ext uri="{FF2B5EF4-FFF2-40B4-BE49-F238E27FC236}">
                <a16:creationId xmlns:a16="http://schemas.microsoft.com/office/drawing/2014/main" id="{C5F5F276-B621-40F8-9B3B-828632C670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653AEE-A93A-DA5A-B933-ED3A0C8164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140342-3A7D-8044-9E35-017AD9F8D970}" type="slidenum">
              <a:rPr lang="en-US" smtClean="0"/>
              <a:t>‹#›</a:t>
            </a:fld>
            <a:endParaRPr lang="en-US"/>
          </a:p>
        </p:txBody>
      </p:sp>
    </p:spTree>
    <p:extLst>
      <p:ext uri="{BB962C8B-B14F-4D97-AF65-F5344CB8AC3E}">
        <p14:creationId xmlns:p14="http://schemas.microsoft.com/office/powerpoint/2010/main" val="962117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72AF-97E6-3F1E-5861-E36B480CD670}"/>
              </a:ext>
            </a:extLst>
          </p:cNvPr>
          <p:cNvSpPr>
            <a:spLocks noGrp="1"/>
          </p:cNvSpPr>
          <p:nvPr>
            <p:ph type="ctrTitle"/>
          </p:nvPr>
        </p:nvSpPr>
        <p:spPr/>
        <p:txBody>
          <a:bodyPr/>
          <a:lstStyle/>
          <a:p>
            <a:r>
              <a:rPr lang="en-US" dirty="0"/>
              <a:t>Lecture 2</a:t>
            </a:r>
          </a:p>
        </p:txBody>
      </p:sp>
      <p:sp>
        <p:nvSpPr>
          <p:cNvPr id="3" name="Subtitle 2">
            <a:extLst>
              <a:ext uri="{FF2B5EF4-FFF2-40B4-BE49-F238E27FC236}">
                <a16:creationId xmlns:a16="http://schemas.microsoft.com/office/drawing/2014/main" id="{DC1752B1-62A2-4C2F-3FE1-9B81D04097CC}"/>
              </a:ext>
            </a:extLst>
          </p:cNvPr>
          <p:cNvSpPr>
            <a:spLocks noGrp="1"/>
          </p:cNvSpPr>
          <p:nvPr>
            <p:ph type="subTitle" idx="1"/>
          </p:nvPr>
        </p:nvSpPr>
        <p:spPr/>
        <p:txBody>
          <a:bodyPr/>
          <a:lstStyle/>
          <a:p>
            <a:r>
              <a:rPr lang="en-US"/>
              <a:t>Eleana Cabello</a:t>
            </a:r>
          </a:p>
        </p:txBody>
      </p:sp>
    </p:spTree>
    <p:extLst>
      <p:ext uri="{BB962C8B-B14F-4D97-AF65-F5344CB8AC3E}">
        <p14:creationId xmlns:p14="http://schemas.microsoft.com/office/powerpoint/2010/main" val="1367388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FEAC-DB20-F7B0-380C-05B578E9CA99}"/>
              </a:ext>
            </a:extLst>
          </p:cNvPr>
          <p:cNvSpPr>
            <a:spLocks noGrp="1"/>
          </p:cNvSpPr>
          <p:nvPr>
            <p:ph type="title"/>
          </p:nvPr>
        </p:nvSpPr>
        <p:spPr/>
        <p:txBody>
          <a:bodyPr/>
          <a:lstStyle/>
          <a:p>
            <a:r>
              <a:rPr lang="en-US" b="1" dirty="0"/>
              <a:t>Let’s get on the same page</a:t>
            </a:r>
          </a:p>
        </p:txBody>
      </p:sp>
      <p:sp>
        <p:nvSpPr>
          <p:cNvPr id="3" name="Content Placeholder 2">
            <a:extLst>
              <a:ext uri="{FF2B5EF4-FFF2-40B4-BE49-F238E27FC236}">
                <a16:creationId xmlns:a16="http://schemas.microsoft.com/office/drawing/2014/main" id="{A021E689-1696-CA4A-6BCF-67046C5B8CF8}"/>
              </a:ext>
            </a:extLst>
          </p:cNvPr>
          <p:cNvSpPr>
            <a:spLocks noGrp="1"/>
          </p:cNvSpPr>
          <p:nvPr>
            <p:ph idx="1"/>
          </p:nvPr>
        </p:nvSpPr>
        <p:spPr>
          <a:xfrm>
            <a:off x="838200" y="2081047"/>
            <a:ext cx="10515600" cy="4095915"/>
          </a:xfrm>
        </p:spPr>
        <p:txBody>
          <a:bodyPr anchor="t"/>
          <a:lstStyle/>
          <a:p>
            <a:r>
              <a:rPr lang="en-US" dirty="0"/>
              <a:t>Windows systems – Log onto OSCER using </a:t>
            </a:r>
            <a:r>
              <a:rPr lang="en-US" dirty="0" err="1"/>
              <a:t>MobaXterm</a:t>
            </a:r>
            <a:endParaRPr lang="en-US" dirty="0"/>
          </a:p>
          <a:p>
            <a:pPr marL="0" indent="0">
              <a:buNone/>
            </a:pPr>
            <a:endParaRPr lang="en-US" dirty="0"/>
          </a:p>
          <a:p>
            <a:r>
              <a:rPr lang="en-US" dirty="0"/>
              <a:t>Mac systems - Find the Terminal application</a:t>
            </a:r>
          </a:p>
        </p:txBody>
      </p:sp>
    </p:spTree>
    <p:extLst>
      <p:ext uri="{BB962C8B-B14F-4D97-AF65-F5344CB8AC3E}">
        <p14:creationId xmlns:p14="http://schemas.microsoft.com/office/powerpoint/2010/main" val="656006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C3EC416-60C2-6693-84B1-228A1B2A9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000" y="870153"/>
            <a:ext cx="8890000" cy="3098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A697EAD-0CEE-9B15-C846-E13E37CFE3CB}"/>
              </a:ext>
            </a:extLst>
          </p:cNvPr>
          <p:cNvSpPr>
            <a:spLocks noChangeArrowheads="1"/>
          </p:cNvSpPr>
          <p:nvPr/>
        </p:nvSpPr>
        <p:spPr bwMode="auto">
          <a:xfrm>
            <a:off x="595037" y="3994601"/>
            <a:ext cx="12064673"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Terminal</a:t>
            </a:r>
            <a:r>
              <a:rPr kumimoji="0" lang="en-US" altLang="en-US" sz="1800" b="0" i="0" u="none" strike="noStrike" cap="none" normalizeH="0" baseline="0" dirty="0">
                <a:ln>
                  <a:noFill/>
                </a:ln>
                <a:solidFill>
                  <a:schemeClr val="tx1"/>
                </a:solidFill>
                <a:effectLst/>
                <a:latin typeface="Arial" panose="020B0604020202020204" pitchFamily="34" charset="0"/>
              </a:rPr>
              <a:t> - A text-based user interface that allows users to interact with a computer by typing commands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Directory</a:t>
            </a:r>
            <a:r>
              <a:rPr kumimoji="0" lang="en-US" altLang="en-US" sz="1800" b="0" i="0" u="none" strike="noStrike" cap="none" normalizeH="0" baseline="0" dirty="0">
                <a:ln>
                  <a:noFill/>
                </a:ln>
                <a:solidFill>
                  <a:schemeClr val="tx1"/>
                </a:solidFill>
                <a:effectLst/>
                <a:latin typeface="Arial" panose="020B0604020202020204" pitchFamily="34" charset="0"/>
              </a:rPr>
              <a:t> - A folder location in your computer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Working Directory</a:t>
            </a:r>
            <a:r>
              <a:rPr kumimoji="0" lang="en-US" altLang="en-US" sz="1800" b="0" i="0" u="none" strike="noStrike" cap="none" normalizeH="0" baseline="0" dirty="0">
                <a:ln>
                  <a:noFill/>
                </a:ln>
                <a:solidFill>
                  <a:schemeClr val="tx1"/>
                </a:solidFill>
                <a:effectLst/>
                <a:latin typeface="Arial" panose="020B0604020202020204" pitchFamily="34" charset="0"/>
              </a:rPr>
              <a:t> - The current directory a user is in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Path</a:t>
            </a:r>
            <a:r>
              <a:rPr kumimoji="0" lang="en-US" altLang="en-US" sz="1800" b="0" i="0" u="none" strike="noStrike" cap="none" normalizeH="0" baseline="0" dirty="0">
                <a:ln>
                  <a:noFill/>
                </a:ln>
                <a:solidFill>
                  <a:schemeClr val="tx1"/>
                </a:solidFill>
                <a:effectLst/>
                <a:latin typeface="Arial" panose="020B0604020202020204" pitchFamily="34" charset="0"/>
              </a:rPr>
              <a:t> - Directions to a folder or file </a:t>
            </a:r>
          </a:p>
        </p:txBody>
      </p:sp>
    </p:spTree>
    <p:extLst>
      <p:ext uri="{BB962C8B-B14F-4D97-AF65-F5344CB8AC3E}">
        <p14:creationId xmlns:p14="http://schemas.microsoft.com/office/powerpoint/2010/main" val="2705555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FC31-90ED-EB5D-C4A3-4BB23BE00FDD}"/>
              </a:ext>
            </a:extLst>
          </p:cNvPr>
          <p:cNvSpPr>
            <a:spLocks noGrp="1"/>
          </p:cNvSpPr>
          <p:nvPr>
            <p:ph type="title"/>
          </p:nvPr>
        </p:nvSpPr>
        <p:spPr/>
        <p:txBody>
          <a:bodyPr/>
          <a:lstStyle/>
          <a:p>
            <a:r>
              <a:rPr lang="en-US" b="1" dirty="0"/>
              <a:t>Let's log into your guest accounts</a:t>
            </a:r>
          </a:p>
        </p:txBody>
      </p:sp>
      <p:sp>
        <p:nvSpPr>
          <p:cNvPr id="4" name="Rectangle 1">
            <a:extLst>
              <a:ext uri="{FF2B5EF4-FFF2-40B4-BE49-F238E27FC236}">
                <a16:creationId xmlns:a16="http://schemas.microsoft.com/office/drawing/2014/main" id="{13F333AD-6CBD-CF58-068C-43CB3FB9331C}"/>
              </a:ext>
            </a:extLst>
          </p:cNvPr>
          <p:cNvSpPr>
            <a:spLocks noChangeArrowheads="1"/>
          </p:cNvSpPr>
          <p:nvPr/>
        </p:nvSpPr>
        <p:spPr bwMode="auto">
          <a:xfrm>
            <a:off x="838200" y="1690688"/>
            <a:ext cx="10515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Gather you log in information, username and password.</a:t>
            </a:r>
          </a:p>
        </p:txBody>
      </p:sp>
      <p:pic>
        <p:nvPicPr>
          <p:cNvPr id="3074" name="Picture 2">
            <a:extLst>
              <a:ext uri="{FF2B5EF4-FFF2-40B4-BE49-F238E27FC236}">
                <a16:creationId xmlns:a16="http://schemas.microsoft.com/office/drawing/2014/main" id="{CD58AC63-1833-8F3F-CE27-35D5349F0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000" y="2079655"/>
            <a:ext cx="8890000" cy="3098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7234F4-BB5A-267E-0714-A5BB74C87602}"/>
              </a:ext>
            </a:extLst>
          </p:cNvPr>
          <p:cNvSpPr txBox="1"/>
          <p:nvPr/>
        </p:nvSpPr>
        <p:spPr>
          <a:xfrm>
            <a:off x="838200" y="5127381"/>
            <a:ext cx="11220450" cy="1287468"/>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Type the following command to access you OSCER account: </a:t>
            </a:r>
            <a:r>
              <a:rPr kumimoji="0" lang="en-US" altLang="en-US" sz="1800" b="1" i="0" u="none" strike="noStrike" cap="none" normalizeH="0" baseline="0" dirty="0">
                <a:ln>
                  <a:noFill/>
                </a:ln>
                <a:solidFill>
                  <a:srgbClr val="FF0000"/>
                </a:solidFill>
                <a:effectLst/>
                <a:latin typeface="+mj-lt"/>
              </a:rPr>
              <a:t>ssh </a:t>
            </a:r>
            <a:r>
              <a:rPr kumimoji="0" lang="en-US" altLang="en-US" sz="1800" b="1" i="0" u="none" strike="noStrike" cap="none" normalizeH="0" baseline="0" dirty="0" err="1">
                <a:ln>
                  <a:noFill/>
                </a:ln>
                <a:solidFill>
                  <a:srgbClr val="FF0000"/>
                </a:solidFill>
                <a:effectLst/>
                <a:latin typeface="+mj-lt"/>
              </a:rPr>
              <a:t>USERNAME@sooner.oscer.ou.edu</a:t>
            </a:r>
            <a:endParaRPr kumimoji="0" lang="en-US" altLang="en-US" sz="1800" b="1" i="0" u="none" strike="noStrike" cap="none" normalizeH="0" baseline="0" dirty="0">
              <a:ln>
                <a:noFill/>
              </a:ln>
              <a:solidFill>
                <a:srgbClr val="FF0000"/>
              </a:solidFill>
              <a:effectLst/>
              <a:latin typeface="+mj-l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will ask for your password, start typing it. It will not appear on your screen do not be alarmed this is normal. Just make sure to enter it correctly then hit enter.</a:t>
            </a:r>
          </a:p>
        </p:txBody>
      </p:sp>
    </p:spTree>
    <p:extLst>
      <p:ext uri="{BB962C8B-B14F-4D97-AF65-F5344CB8AC3E}">
        <p14:creationId xmlns:p14="http://schemas.microsoft.com/office/powerpoint/2010/main" val="2771282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B432-723B-E01F-5F73-E3FABFCB4F24}"/>
            </a:ext>
          </a:extLst>
        </p:cNvPr>
        <p:cNvGrpSpPr/>
        <p:nvPr/>
      </p:nvGrpSpPr>
      <p:grpSpPr>
        <a:xfrm>
          <a:off x="0" y="0"/>
          <a:ext cx="0" cy="0"/>
          <a:chOff x="0" y="0"/>
          <a:chExt cx="0" cy="0"/>
        </a:xfrm>
      </p:grpSpPr>
      <p:pic>
        <p:nvPicPr>
          <p:cNvPr id="2051" name="Picture 3">
            <a:extLst>
              <a:ext uri="{FF2B5EF4-FFF2-40B4-BE49-F238E27FC236}">
                <a16:creationId xmlns:a16="http://schemas.microsoft.com/office/drawing/2014/main" id="{DFFB2CF1-9CC8-D716-0821-3D8CDE44FD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675" y="202938"/>
            <a:ext cx="8604250" cy="647039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E11112D-1592-91BA-D61B-95F0E1359118}"/>
              </a:ext>
            </a:extLst>
          </p:cNvPr>
          <p:cNvSpPr/>
          <p:nvPr/>
        </p:nvSpPr>
        <p:spPr>
          <a:xfrm>
            <a:off x="4650829" y="3578773"/>
            <a:ext cx="2349062" cy="25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sooner.oscer.ou.edu</a:t>
            </a:r>
            <a:endParaRPr lang="en-US" sz="1400" b="1" dirty="0">
              <a:solidFill>
                <a:schemeClr val="tx1"/>
              </a:solidFill>
            </a:endParaRPr>
          </a:p>
        </p:txBody>
      </p:sp>
      <p:sp>
        <p:nvSpPr>
          <p:cNvPr id="4" name="Rectangle 3">
            <a:extLst>
              <a:ext uri="{FF2B5EF4-FFF2-40B4-BE49-F238E27FC236}">
                <a16:creationId xmlns:a16="http://schemas.microsoft.com/office/drawing/2014/main" id="{115827DD-2505-E767-1496-E25E1DC74BB7}"/>
              </a:ext>
            </a:extLst>
          </p:cNvPr>
          <p:cNvSpPr/>
          <p:nvPr/>
        </p:nvSpPr>
        <p:spPr>
          <a:xfrm>
            <a:off x="8408280" y="2790497"/>
            <a:ext cx="1905765" cy="1040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Sooner Login Nodes</a:t>
            </a:r>
          </a:p>
          <a:p>
            <a:pPr algn="ctr"/>
            <a:r>
              <a:rPr lang="en-US" sz="1400" dirty="0">
                <a:solidFill>
                  <a:schemeClr val="tx1"/>
                </a:solidFill>
              </a:rPr>
              <a:t>sooner1.oscer.ou.edu</a:t>
            </a:r>
          </a:p>
          <a:p>
            <a:pPr algn="ctr"/>
            <a:r>
              <a:rPr lang="en-US" sz="1400" dirty="0">
                <a:solidFill>
                  <a:schemeClr val="tx1"/>
                </a:solidFill>
              </a:rPr>
              <a:t>sooner2.oscer.ou.edu</a:t>
            </a:r>
          </a:p>
          <a:p>
            <a:pPr algn="ctr"/>
            <a:r>
              <a:rPr lang="en-US" sz="1400" dirty="0">
                <a:solidFill>
                  <a:schemeClr val="tx1"/>
                </a:solidFill>
              </a:rPr>
              <a:t>sooner3.oscer.ou.edu</a:t>
            </a:r>
          </a:p>
          <a:p>
            <a:pPr algn="ctr"/>
            <a:r>
              <a:rPr lang="en-US" sz="1400" dirty="0">
                <a:solidFill>
                  <a:schemeClr val="tx1"/>
                </a:solidFill>
              </a:rPr>
              <a:t>sooner4.oscer.ou.edu</a:t>
            </a:r>
          </a:p>
        </p:txBody>
      </p:sp>
    </p:spTree>
    <p:extLst>
      <p:ext uri="{BB962C8B-B14F-4D97-AF65-F5344CB8AC3E}">
        <p14:creationId xmlns:p14="http://schemas.microsoft.com/office/powerpoint/2010/main" val="325411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a:extLst>
              <a:ext uri="{FF2B5EF4-FFF2-40B4-BE49-F238E27FC236}">
                <a16:creationId xmlns:a16="http://schemas.microsoft.com/office/drawing/2014/main" id="{45BDE441-1605-A905-946B-DCF987EB0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675" y="202938"/>
            <a:ext cx="8604250" cy="64703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F0A42C8-4E95-D252-26E8-81D713EDDBF6}"/>
              </a:ext>
            </a:extLst>
          </p:cNvPr>
          <p:cNvSpPr txBox="1"/>
          <p:nvPr/>
        </p:nvSpPr>
        <p:spPr>
          <a:xfrm>
            <a:off x="9766767" y="6169292"/>
            <a:ext cx="1451103" cy="369332"/>
          </a:xfrm>
          <a:prstGeom prst="rect">
            <a:avLst/>
          </a:prstGeom>
          <a:noFill/>
        </p:spPr>
        <p:txBody>
          <a:bodyPr wrap="none" rtlCol="0">
            <a:spAutoFit/>
          </a:bodyPr>
          <a:lstStyle/>
          <a:p>
            <a:r>
              <a:rPr lang="en-US" dirty="0"/>
              <a:t>You are here </a:t>
            </a:r>
          </a:p>
        </p:txBody>
      </p:sp>
      <p:sp>
        <p:nvSpPr>
          <p:cNvPr id="6" name="Bent Arrow 5">
            <a:extLst>
              <a:ext uri="{FF2B5EF4-FFF2-40B4-BE49-F238E27FC236}">
                <a16:creationId xmlns:a16="http://schemas.microsoft.com/office/drawing/2014/main" id="{8894354C-1C40-02E3-65F6-9E6102B67701}"/>
              </a:ext>
            </a:extLst>
          </p:cNvPr>
          <p:cNvSpPr/>
          <p:nvPr/>
        </p:nvSpPr>
        <p:spPr>
          <a:xfrm flipH="1">
            <a:off x="8873381" y="5169419"/>
            <a:ext cx="1618938" cy="742950"/>
          </a:xfrm>
          <a:prstGeom prst="ben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Oval 1">
            <a:extLst>
              <a:ext uri="{FF2B5EF4-FFF2-40B4-BE49-F238E27FC236}">
                <a16:creationId xmlns:a16="http://schemas.microsoft.com/office/drawing/2014/main" id="{5DFA0BAE-6999-14E8-E0CD-82A1FA28E516}"/>
              </a:ext>
            </a:extLst>
          </p:cNvPr>
          <p:cNvSpPr/>
          <p:nvPr/>
        </p:nvSpPr>
        <p:spPr>
          <a:xfrm>
            <a:off x="7017843" y="4543165"/>
            <a:ext cx="1618938" cy="199545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25E95F5-0A2B-4EE4-7F7E-6879D1C48053}"/>
              </a:ext>
            </a:extLst>
          </p:cNvPr>
          <p:cNvCxnSpPr>
            <a:stCxn id="2051" idx="1"/>
          </p:cNvCxnSpPr>
          <p:nvPr/>
        </p:nvCxnSpPr>
        <p:spPr>
          <a:xfrm flipV="1">
            <a:off x="1336675" y="3429000"/>
            <a:ext cx="6578132" cy="9136"/>
          </a:xfrm>
          <a:prstGeom prst="line">
            <a:avLst/>
          </a:prstGeom>
          <a:ln w="5715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0820EA5-31E6-CF3D-FDE7-8F4AF0EFEBF2}"/>
              </a:ext>
            </a:extLst>
          </p:cNvPr>
          <p:cNvCxnSpPr>
            <a:cxnSpLocks/>
          </p:cNvCxnSpPr>
          <p:nvPr/>
        </p:nvCxnSpPr>
        <p:spPr>
          <a:xfrm flipV="1">
            <a:off x="7914807" y="3438136"/>
            <a:ext cx="0" cy="953982"/>
          </a:xfrm>
          <a:prstGeom prst="line">
            <a:avLst/>
          </a:prstGeom>
          <a:ln w="5715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75CDB1C-FD1E-FD21-01A1-FE329D417638}"/>
              </a:ext>
            </a:extLst>
          </p:cNvPr>
          <p:cNvSpPr/>
          <p:nvPr/>
        </p:nvSpPr>
        <p:spPr>
          <a:xfrm>
            <a:off x="4650829" y="3578773"/>
            <a:ext cx="2349062" cy="25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sooner.oscer.ou.edu</a:t>
            </a:r>
            <a:endParaRPr lang="en-US" sz="1400" b="1" dirty="0">
              <a:solidFill>
                <a:schemeClr val="tx1"/>
              </a:solidFill>
            </a:endParaRPr>
          </a:p>
        </p:txBody>
      </p:sp>
      <p:sp>
        <p:nvSpPr>
          <p:cNvPr id="16" name="Rectangle 15">
            <a:extLst>
              <a:ext uri="{FF2B5EF4-FFF2-40B4-BE49-F238E27FC236}">
                <a16:creationId xmlns:a16="http://schemas.microsoft.com/office/drawing/2014/main" id="{D9AEDEBB-F19E-A6E4-BAA4-418083F31829}"/>
              </a:ext>
            </a:extLst>
          </p:cNvPr>
          <p:cNvSpPr/>
          <p:nvPr/>
        </p:nvSpPr>
        <p:spPr>
          <a:xfrm>
            <a:off x="8408280" y="2790497"/>
            <a:ext cx="1905765" cy="1040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Sooner Login Nodes</a:t>
            </a:r>
          </a:p>
          <a:p>
            <a:pPr algn="ctr"/>
            <a:r>
              <a:rPr lang="en-US" sz="1400" dirty="0">
                <a:solidFill>
                  <a:schemeClr val="tx1"/>
                </a:solidFill>
              </a:rPr>
              <a:t>sooner1.oscer.ou.edu</a:t>
            </a:r>
          </a:p>
          <a:p>
            <a:pPr algn="ctr"/>
            <a:r>
              <a:rPr lang="en-US" sz="1400" dirty="0">
                <a:solidFill>
                  <a:schemeClr val="tx1"/>
                </a:solidFill>
              </a:rPr>
              <a:t>sooner2.oscer.ou.edu</a:t>
            </a:r>
          </a:p>
          <a:p>
            <a:pPr algn="ctr"/>
            <a:r>
              <a:rPr lang="en-US" sz="1400" dirty="0">
                <a:solidFill>
                  <a:schemeClr val="tx1"/>
                </a:solidFill>
              </a:rPr>
              <a:t>sooner3.oscer.ou.edu</a:t>
            </a:r>
          </a:p>
          <a:p>
            <a:pPr algn="ctr"/>
            <a:r>
              <a:rPr lang="en-US" sz="1400" dirty="0">
                <a:solidFill>
                  <a:schemeClr val="tx1"/>
                </a:solidFill>
              </a:rPr>
              <a:t>sooner4.oscer.ou.edu</a:t>
            </a:r>
          </a:p>
        </p:txBody>
      </p:sp>
      <p:sp>
        <p:nvSpPr>
          <p:cNvPr id="3" name="Oval 2">
            <a:extLst>
              <a:ext uri="{FF2B5EF4-FFF2-40B4-BE49-F238E27FC236}">
                <a16:creationId xmlns:a16="http://schemas.microsoft.com/office/drawing/2014/main" id="{242FBF1E-4220-A7CF-311A-720D6E826EDE}"/>
              </a:ext>
            </a:extLst>
          </p:cNvPr>
          <p:cNvSpPr/>
          <p:nvPr/>
        </p:nvSpPr>
        <p:spPr>
          <a:xfrm>
            <a:off x="1180958" y="3271658"/>
            <a:ext cx="311432" cy="332956"/>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145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02E5E-9736-FD96-09B9-60A838DAE6E8}"/>
              </a:ext>
            </a:extLst>
          </p:cNvPr>
          <p:cNvSpPr>
            <a:spLocks noGrp="1"/>
          </p:cNvSpPr>
          <p:nvPr>
            <p:ph type="title"/>
          </p:nvPr>
        </p:nvSpPr>
        <p:spPr/>
        <p:txBody>
          <a:bodyPr/>
          <a:lstStyle/>
          <a:p>
            <a:r>
              <a:rPr lang="en-US" b="1" dirty="0"/>
              <a:t>BASH Programming</a:t>
            </a:r>
          </a:p>
        </p:txBody>
      </p:sp>
      <p:sp>
        <p:nvSpPr>
          <p:cNvPr id="3" name="Text Placeholder 2">
            <a:extLst>
              <a:ext uri="{FF2B5EF4-FFF2-40B4-BE49-F238E27FC236}">
                <a16:creationId xmlns:a16="http://schemas.microsoft.com/office/drawing/2014/main" id="{9F9B772E-B6C2-CAA1-5C4E-8854C21978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37469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CF5BAB2-948D-8F35-8547-E14DCF6B0247}"/>
              </a:ext>
            </a:extLst>
          </p:cNvPr>
          <p:cNvSpPr txBox="1"/>
          <p:nvPr/>
        </p:nvSpPr>
        <p:spPr>
          <a:xfrm>
            <a:off x="565390" y="3259722"/>
            <a:ext cx="3502113" cy="461665"/>
          </a:xfrm>
          <a:prstGeom prst="rect">
            <a:avLst/>
          </a:prstGeom>
          <a:noFill/>
        </p:spPr>
        <p:txBody>
          <a:bodyPr wrap="none" rtlCol="0">
            <a:spAutoFit/>
          </a:bodyPr>
          <a:lstStyle/>
          <a:p>
            <a:r>
              <a:rPr lang="en-US" sz="2400" dirty="0"/>
              <a:t>From where you are type:</a:t>
            </a:r>
          </a:p>
        </p:txBody>
      </p:sp>
      <p:sp>
        <p:nvSpPr>
          <p:cNvPr id="7" name="TextBox 6">
            <a:extLst>
              <a:ext uri="{FF2B5EF4-FFF2-40B4-BE49-F238E27FC236}">
                <a16:creationId xmlns:a16="http://schemas.microsoft.com/office/drawing/2014/main" id="{C7F30E3F-274E-9BC9-F8CA-A83030FC3FA7}"/>
              </a:ext>
            </a:extLst>
          </p:cNvPr>
          <p:cNvSpPr txBox="1"/>
          <p:nvPr/>
        </p:nvSpPr>
        <p:spPr>
          <a:xfrm>
            <a:off x="4084802" y="3228944"/>
            <a:ext cx="7541808" cy="523220"/>
          </a:xfrm>
          <a:prstGeom prst="rect">
            <a:avLst/>
          </a:prstGeom>
          <a:noFill/>
        </p:spPr>
        <p:txBody>
          <a:bodyPr wrap="none" rtlCol="0">
            <a:spAutoFit/>
          </a:bodyPr>
          <a:lstStyle/>
          <a:p>
            <a:r>
              <a:rPr lang="en-US" sz="2800" b="1" dirty="0"/>
              <a:t>cp –r /scratch/</a:t>
            </a:r>
            <a:r>
              <a:rPr lang="en-US" sz="2800" b="1" dirty="0" err="1"/>
              <a:t>elec</a:t>
            </a:r>
            <a:r>
              <a:rPr lang="en-US" sz="2800" b="1" dirty="0"/>
              <a:t>/lecture_2 /scratch/$USER</a:t>
            </a:r>
          </a:p>
        </p:txBody>
      </p:sp>
    </p:spTree>
    <p:extLst>
      <p:ext uri="{BB962C8B-B14F-4D97-AF65-F5344CB8AC3E}">
        <p14:creationId xmlns:p14="http://schemas.microsoft.com/office/powerpoint/2010/main" val="2017624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42F05-830D-4C1C-1005-B9B9422EB24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7A11135-C739-5A73-21EB-64053173A83F}"/>
              </a:ext>
            </a:extLst>
          </p:cNvPr>
          <p:cNvSpPr txBox="1"/>
          <p:nvPr/>
        </p:nvSpPr>
        <p:spPr>
          <a:xfrm>
            <a:off x="2614909" y="3272498"/>
            <a:ext cx="1515351" cy="461665"/>
          </a:xfrm>
          <a:prstGeom prst="rect">
            <a:avLst/>
          </a:prstGeom>
          <a:noFill/>
        </p:spPr>
        <p:txBody>
          <a:bodyPr wrap="none" rtlCol="0">
            <a:spAutoFit/>
          </a:bodyPr>
          <a:lstStyle/>
          <a:p>
            <a:r>
              <a:rPr lang="en-US" sz="2400" dirty="0"/>
              <a:t>Now type:</a:t>
            </a:r>
          </a:p>
        </p:txBody>
      </p:sp>
      <p:sp>
        <p:nvSpPr>
          <p:cNvPr id="7" name="TextBox 6">
            <a:extLst>
              <a:ext uri="{FF2B5EF4-FFF2-40B4-BE49-F238E27FC236}">
                <a16:creationId xmlns:a16="http://schemas.microsoft.com/office/drawing/2014/main" id="{CD66651E-3645-CFA3-2C6B-DDCC6D926FD7}"/>
              </a:ext>
            </a:extLst>
          </p:cNvPr>
          <p:cNvSpPr txBox="1"/>
          <p:nvPr/>
        </p:nvSpPr>
        <p:spPr>
          <a:xfrm>
            <a:off x="4442117" y="3241721"/>
            <a:ext cx="3251659" cy="523220"/>
          </a:xfrm>
          <a:prstGeom prst="rect">
            <a:avLst/>
          </a:prstGeom>
          <a:noFill/>
        </p:spPr>
        <p:txBody>
          <a:bodyPr wrap="none" rtlCol="0">
            <a:spAutoFit/>
          </a:bodyPr>
          <a:lstStyle/>
          <a:p>
            <a:r>
              <a:rPr lang="en-US" sz="2800" b="1" dirty="0"/>
              <a:t>cd /scratch/$USER</a:t>
            </a:r>
          </a:p>
        </p:txBody>
      </p:sp>
    </p:spTree>
    <p:extLst>
      <p:ext uri="{BB962C8B-B14F-4D97-AF65-F5344CB8AC3E}">
        <p14:creationId xmlns:p14="http://schemas.microsoft.com/office/powerpoint/2010/main" val="2736245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A23569-00D9-84BC-E0EC-F5A40A37396D}"/>
              </a:ext>
            </a:extLst>
          </p:cNvPr>
          <p:cNvSpPr txBox="1"/>
          <p:nvPr/>
        </p:nvSpPr>
        <p:spPr>
          <a:xfrm>
            <a:off x="400050" y="2032994"/>
            <a:ext cx="11791950" cy="3381695"/>
          </a:xfrm>
          <a:prstGeom prst="rect">
            <a:avLst/>
          </a:prstGeom>
          <a:noFill/>
        </p:spPr>
        <p:txBody>
          <a:bodyPr wrap="square">
            <a:spAutoFit/>
          </a:bodyPr>
          <a:lstStyle/>
          <a:p>
            <a:pPr>
              <a:lnSpc>
                <a:spcPct val="150000"/>
              </a:lnSpc>
              <a:buNone/>
            </a:pPr>
            <a:r>
              <a:rPr lang="en-US" b="1" dirty="0" err="1">
                <a:latin typeface="Courier New" panose="02070309020205020404" pitchFamily="49" charset="0"/>
              </a:rPr>
              <a:t>pwd</a:t>
            </a:r>
            <a:r>
              <a:rPr lang="en-US" b="1" dirty="0">
                <a:latin typeface="Courier New" panose="02070309020205020404" pitchFamily="49" charset="0"/>
              </a:rPr>
              <a:t>       # Print working directory</a:t>
            </a:r>
          </a:p>
          <a:p>
            <a:pPr>
              <a:lnSpc>
                <a:spcPct val="150000"/>
              </a:lnSpc>
              <a:buNone/>
            </a:pPr>
            <a:r>
              <a:rPr lang="en-US" b="1" dirty="0">
                <a:latin typeface="Courier New" panose="02070309020205020404" pitchFamily="49" charset="0"/>
              </a:rPr>
              <a:t>ls        # List contents in a directory</a:t>
            </a:r>
          </a:p>
          <a:p>
            <a:pPr>
              <a:lnSpc>
                <a:spcPct val="150000"/>
              </a:lnSpc>
              <a:buNone/>
            </a:pPr>
            <a:r>
              <a:rPr lang="en-US" b="1" dirty="0">
                <a:latin typeface="Courier New" panose="02070309020205020404" pitchFamily="49" charset="0"/>
              </a:rPr>
              <a:t>ls -</a:t>
            </a:r>
            <a:r>
              <a:rPr lang="en-US" b="1" dirty="0" err="1">
                <a:latin typeface="Courier New" panose="02070309020205020404" pitchFamily="49" charset="0"/>
              </a:rPr>
              <a:t>lh</a:t>
            </a:r>
            <a:r>
              <a:rPr lang="en-US" b="1" dirty="0">
                <a:latin typeface="Courier New" panose="02070309020205020404" pitchFamily="49" charset="0"/>
              </a:rPr>
              <a:t>    # List contents in a directory in a list format and human read able sizes</a:t>
            </a:r>
          </a:p>
          <a:p>
            <a:pPr>
              <a:lnSpc>
                <a:spcPct val="150000"/>
              </a:lnSpc>
              <a:buNone/>
            </a:pPr>
            <a:r>
              <a:rPr lang="en-US" b="1" dirty="0">
                <a:latin typeface="Courier New" panose="02070309020205020404" pitchFamily="49" charset="0"/>
              </a:rPr>
              <a:t>tree      # List directory and file tree</a:t>
            </a:r>
          </a:p>
          <a:p>
            <a:pPr>
              <a:lnSpc>
                <a:spcPct val="150000"/>
              </a:lnSpc>
              <a:buNone/>
            </a:pPr>
            <a:endParaRPr lang="en-US" b="1" dirty="0">
              <a:latin typeface="Courier New" panose="02070309020205020404" pitchFamily="49" charset="0"/>
            </a:endParaRPr>
          </a:p>
          <a:p>
            <a:pPr>
              <a:lnSpc>
                <a:spcPct val="150000"/>
              </a:lnSpc>
              <a:buNone/>
            </a:pPr>
            <a:r>
              <a:rPr lang="en-US" b="1" dirty="0">
                <a:latin typeface="Courier New" panose="02070309020205020404" pitchFamily="49" charset="0"/>
              </a:rPr>
              <a:t>cd DIR    # Change working directory to the entered directory </a:t>
            </a:r>
          </a:p>
          <a:p>
            <a:pPr>
              <a:lnSpc>
                <a:spcPct val="150000"/>
              </a:lnSpc>
              <a:buNone/>
            </a:pPr>
            <a:r>
              <a:rPr lang="en-US" b="1" dirty="0">
                <a:latin typeface="Courier New" panose="02070309020205020404" pitchFamily="49" charset="0"/>
              </a:rPr>
              <a:t>cd ..     # Change working directory to parent directory of current directory</a:t>
            </a:r>
          </a:p>
          <a:p>
            <a:pPr>
              <a:lnSpc>
                <a:spcPct val="150000"/>
              </a:lnSpc>
              <a:buNone/>
            </a:pPr>
            <a:r>
              <a:rPr lang="en-US" b="1" dirty="0">
                <a:latin typeface="Courier New" panose="02070309020205020404" pitchFamily="49" charset="0"/>
              </a:rPr>
              <a:t>cd ~      # Change working directory to home</a:t>
            </a:r>
          </a:p>
        </p:txBody>
      </p:sp>
      <p:sp>
        <p:nvSpPr>
          <p:cNvPr id="7" name="Title 1">
            <a:extLst>
              <a:ext uri="{FF2B5EF4-FFF2-40B4-BE49-F238E27FC236}">
                <a16:creationId xmlns:a16="http://schemas.microsoft.com/office/drawing/2014/main" id="{49BC5F92-2B98-B929-3F14-12FBADD0E665}"/>
              </a:ext>
            </a:extLst>
          </p:cNvPr>
          <p:cNvSpPr>
            <a:spLocks noGrp="1"/>
          </p:cNvSpPr>
          <p:nvPr>
            <p:ph type="title"/>
          </p:nvPr>
        </p:nvSpPr>
        <p:spPr>
          <a:xfrm>
            <a:off x="838200" y="365125"/>
            <a:ext cx="10515600" cy="1325563"/>
          </a:xfrm>
        </p:spPr>
        <p:txBody>
          <a:bodyPr/>
          <a:lstStyle/>
          <a:p>
            <a:pPr algn="ctr"/>
            <a:r>
              <a:rPr lang="en-US" b="1" dirty="0"/>
              <a:t>Navigating Directories</a:t>
            </a:r>
            <a:endParaRPr lang="en-US" dirty="0"/>
          </a:p>
        </p:txBody>
      </p:sp>
    </p:spTree>
    <p:extLst>
      <p:ext uri="{BB962C8B-B14F-4D97-AF65-F5344CB8AC3E}">
        <p14:creationId xmlns:p14="http://schemas.microsoft.com/office/powerpoint/2010/main" val="1366512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EABB4-6805-8E56-9606-E5503AACF757}"/>
              </a:ext>
            </a:extLst>
          </p:cNvPr>
          <p:cNvSpPr>
            <a:spLocks noGrp="1"/>
          </p:cNvSpPr>
          <p:nvPr>
            <p:ph type="title"/>
          </p:nvPr>
        </p:nvSpPr>
        <p:spPr/>
        <p:txBody>
          <a:bodyPr/>
          <a:lstStyle/>
          <a:p>
            <a:pPr algn="ctr"/>
            <a:r>
              <a:rPr lang="en-US" b="1" dirty="0"/>
              <a:t>Creating, Moving, and Deleting Directories</a:t>
            </a:r>
            <a:endParaRPr lang="en-US" dirty="0"/>
          </a:p>
        </p:txBody>
      </p:sp>
      <p:sp>
        <p:nvSpPr>
          <p:cNvPr id="5" name="TextBox 4">
            <a:extLst>
              <a:ext uri="{FF2B5EF4-FFF2-40B4-BE49-F238E27FC236}">
                <a16:creationId xmlns:a16="http://schemas.microsoft.com/office/drawing/2014/main" id="{44682FDA-3946-2F98-7128-C48F58CC4F74}"/>
              </a:ext>
            </a:extLst>
          </p:cNvPr>
          <p:cNvSpPr txBox="1"/>
          <p:nvPr/>
        </p:nvSpPr>
        <p:spPr>
          <a:xfrm>
            <a:off x="1295400" y="2297921"/>
            <a:ext cx="10058400" cy="2262158"/>
          </a:xfrm>
          <a:prstGeom prst="rect">
            <a:avLst/>
          </a:prstGeom>
          <a:noFill/>
        </p:spPr>
        <p:txBody>
          <a:bodyPr wrap="square">
            <a:spAutoFit/>
          </a:bodyPr>
          <a:lstStyle/>
          <a:p>
            <a:pPr>
              <a:lnSpc>
                <a:spcPct val="150000"/>
              </a:lnSpc>
              <a:buNone/>
            </a:pPr>
            <a:r>
              <a:rPr lang="en-US" sz="2400" b="1" dirty="0" err="1">
                <a:latin typeface="Courier New" panose="02070309020205020404" pitchFamily="49" charset="0"/>
              </a:rPr>
              <a:t>mkdir</a:t>
            </a:r>
            <a:r>
              <a:rPr lang="en-US" sz="2400" b="1" dirty="0">
                <a:latin typeface="Courier New" panose="02070309020205020404" pitchFamily="49" charset="0"/>
              </a:rPr>
              <a:t> DIR     # Create directory</a:t>
            </a:r>
          </a:p>
          <a:p>
            <a:pPr>
              <a:lnSpc>
                <a:spcPct val="150000"/>
              </a:lnSpc>
              <a:buNone/>
            </a:pPr>
            <a:r>
              <a:rPr lang="en-US" sz="2400" b="1" dirty="0" err="1">
                <a:latin typeface="Courier New" panose="02070309020205020404" pitchFamily="49" charset="0"/>
              </a:rPr>
              <a:t>rmdir</a:t>
            </a:r>
            <a:r>
              <a:rPr lang="en-US" sz="2400" b="1" dirty="0">
                <a:latin typeface="Courier New" panose="02070309020205020404" pitchFamily="49" charset="0"/>
              </a:rPr>
              <a:t> DIR     # Remove Directory</a:t>
            </a:r>
          </a:p>
          <a:p>
            <a:pPr>
              <a:lnSpc>
                <a:spcPct val="150000"/>
              </a:lnSpc>
              <a:buNone/>
            </a:pPr>
            <a:r>
              <a:rPr lang="en-US" sz="2400" b="1" dirty="0">
                <a:latin typeface="Courier New" panose="02070309020205020404" pitchFamily="49" charset="0"/>
              </a:rPr>
              <a:t>rm -r DIR     # Remove Directory</a:t>
            </a:r>
          </a:p>
          <a:p>
            <a:pPr>
              <a:lnSpc>
                <a:spcPct val="150000"/>
              </a:lnSpc>
              <a:buNone/>
            </a:pPr>
            <a:r>
              <a:rPr lang="en-US" sz="2400" b="1" dirty="0">
                <a:latin typeface="Courier New" panose="02070309020205020404" pitchFamily="49" charset="0"/>
              </a:rPr>
              <a:t>mv ONE_DIR TWO_DIR  # Move directory to new directory </a:t>
            </a:r>
          </a:p>
        </p:txBody>
      </p:sp>
    </p:spTree>
    <p:extLst>
      <p:ext uri="{BB962C8B-B14F-4D97-AF65-F5344CB8AC3E}">
        <p14:creationId xmlns:p14="http://schemas.microsoft.com/office/powerpoint/2010/main" val="3728997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A7126C-F367-69C7-026D-AFCB785D66AE}"/>
              </a:ext>
            </a:extLst>
          </p:cNvPr>
          <p:cNvSpPr txBox="1"/>
          <p:nvPr/>
        </p:nvSpPr>
        <p:spPr>
          <a:xfrm>
            <a:off x="1612599" y="2442719"/>
            <a:ext cx="9803524" cy="1708160"/>
          </a:xfrm>
          <a:prstGeom prst="rect">
            <a:avLst/>
          </a:prstGeom>
          <a:noFill/>
        </p:spPr>
        <p:txBody>
          <a:bodyPr wrap="square">
            <a:spAutoFit/>
          </a:bodyPr>
          <a:lstStyle/>
          <a:p>
            <a:pPr>
              <a:lnSpc>
                <a:spcPct val="150000"/>
              </a:lnSpc>
              <a:buNone/>
            </a:pPr>
            <a:r>
              <a:rPr lang="en-US" sz="2400" b="1" dirty="0">
                <a:latin typeface="Courier New" panose="02070309020205020404" pitchFamily="49" charset="0"/>
              </a:rPr>
              <a:t>rm </a:t>
            </a:r>
            <a:r>
              <a:rPr lang="en-US" sz="2400" b="1" dirty="0" err="1">
                <a:latin typeface="Courier New" panose="02070309020205020404" pitchFamily="49" charset="0"/>
              </a:rPr>
              <a:t>FILE.txt</a:t>
            </a:r>
            <a:r>
              <a:rPr lang="en-US" sz="2400" b="1" dirty="0">
                <a:latin typeface="Courier New" panose="02070309020205020404" pitchFamily="49" charset="0"/>
              </a:rPr>
              <a:t>             # Remove file</a:t>
            </a:r>
          </a:p>
          <a:p>
            <a:pPr>
              <a:lnSpc>
                <a:spcPct val="150000"/>
              </a:lnSpc>
              <a:buNone/>
            </a:pPr>
            <a:r>
              <a:rPr lang="en-US" sz="2400" b="1" dirty="0">
                <a:latin typeface="Courier New" panose="02070309020205020404" pitchFamily="49" charset="0"/>
              </a:rPr>
              <a:t>cp </a:t>
            </a:r>
            <a:r>
              <a:rPr lang="en-US" sz="2400" b="1" dirty="0" err="1">
                <a:latin typeface="Courier New" panose="02070309020205020404" pitchFamily="49" charset="0"/>
              </a:rPr>
              <a:t>FILE.txt</a:t>
            </a:r>
            <a:r>
              <a:rPr lang="en-US" sz="2400" b="1" dirty="0">
                <a:latin typeface="Courier New" panose="02070309020205020404" pitchFamily="49" charset="0"/>
              </a:rPr>
              <a:t> </a:t>
            </a:r>
            <a:r>
              <a:rPr lang="en-US" sz="2400" b="1" dirty="0" err="1">
                <a:latin typeface="Courier New" panose="02070309020205020404" pitchFamily="49" charset="0"/>
              </a:rPr>
              <a:t>FILE.txt</a:t>
            </a:r>
            <a:r>
              <a:rPr lang="en-US" sz="2400" b="1" dirty="0">
                <a:latin typeface="Courier New" panose="02070309020205020404" pitchFamily="49" charset="0"/>
              </a:rPr>
              <a:t>    # Copy file to new directory</a:t>
            </a:r>
          </a:p>
          <a:p>
            <a:pPr>
              <a:lnSpc>
                <a:spcPct val="150000"/>
              </a:lnSpc>
              <a:buNone/>
            </a:pPr>
            <a:r>
              <a:rPr lang="en-US" sz="2400" b="1" dirty="0">
                <a:latin typeface="Courier New" panose="02070309020205020404" pitchFamily="49" charset="0"/>
              </a:rPr>
              <a:t>mv </a:t>
            </a:r>
            <a:r>
              <a:rPr lang="en-US" sz="2400" b="1" dirty="0" err="1">
                <a:latin typeface="Courier New" panose="02070309020205020404" pitchFamily="49" charset="0"/>
              </a:rPr>
              <a:t>FILE.txt</a:t>
            </a:r>
            <a:r>
              <a:rPr lang="en-US" sz="2400" b="1" dirty="0">
                <a:latin typeface="Courier New" panose="02070309020205020404" pitchFamily="49" charset="0"/>
              </a:rPr>
              <a:t> </a:t>
            </a:r>
            <a:r>
              <a:rPr lang="en-US" sz="2400" b="1" dirty="0" err="1">
                <a:latin typeface="Courier New" panose="02070309020205020404" pitchFamily="49" charset="0"/>
              </a:rPr>
              <a:t>FILE.txt</a:t>
            </a:r>
            <a:r>
              <a:rPr lang="en-US" sz="2400" b="1" dirty="0">
                <a:latin typeface="Courier New" panose="02070309020205020404" pitchFamily="49" charset="0"/>
              </a:rPr>
              <a:t>    # Move file to new directory</a:t>
            </a:r>
          </a:p>
        </p:txBody>
      </p:sp>
      <p:sp>
        <p:nvSpPr>
          <p:cNvPr id="6" name="Title 1">
            <a:extLst>
              <a:ext uri="{FF2B5EF4-FFF2-40B4-BE49-F238E27FC236}">
                <a16:creationId xmlns:a16="http://schemas.microsoft.com/office/drawing/2014/main" id="{5F272A07-1678-E4A3-B354-5C71FAF2E819}"/>
              </a:ext>
            </a:extLst>
          </p:cNvPr>
          <p:cNvSpPr>
            <a:spLocks noGrp="1"/>
          </p:cNvSpPr>
          <p:nvPr>
            <p:ph type="title"/>
          </p:nvPr>
        </p:nvSpPr>
        <p:spPr>
          <a:xfrm>
            <a:off x="838200" y="365125"/>
            <a:ext cx="10515600" cy="1325563"/>
          </a:xfrm>
        </p:spPr>
        <p:txBody>
          <a:bodyPr/>
          <a:lstStyle/>
          <a:p>
            <a:pPr algn="ctr"/>
            <a:r>
              <a:rPr lang="en-US" b="1" dirty="0"/>
              <a:t>Deleting, Copying, and Moving Files</a:t>
            </a:r>
            <a:endParaRPr lang="en-US" dirty="0"/>
          </a:p>
        </p:txBody>
      </p:sp>
      <p:sp>
        <p:nvSpPr>
          <p:cNvPr id="2" name="TextBox 1">
            <a:extLst>
              <a:ext uri="{FF2B5EF4-FFF2-40B4-BE49-F238E27FC236}">
                <a16:creationId xmlns:a16="http://schemas.microsoft.com/office/drawing/2014/main" id="{71C22753-AD6E-59DD-A855-15602003CD4B}"/>
              </a:ext>
            </a:extLst>
          </p:cNvPr>
          <p:cNvSpPr txBox="1"/>
          <p:nvPr/>
        </p:nvSpPr>
        <p:spPr>
          <a:xfrm>
            <a:off x="2260463" y="4902910"/>
            <a:ext cx="7671074" cy="369332"/>
          </a:xfrm>
          <a:prstGeom prst="rect">
            <a:avLst/>
          </a:prstGeom>
          <a:noFill/>
        </p:spPr>
        <p:txBody>
          <a:bodyPr wrap="none" rtlCol="0">
            <a:spAutoFit/>
          </a:bodyPr>
          <a:lstStyle/>
          <a:p>
            <a:r>
              <a:rPr lang="en-US" b="1" dirty="0">
                <a:solidFill>
                  <a:srgbClr val="FF0000"/>
                </a:solidFill>
              </a:rPr>
              <a:t>There is no back button once things are deleted or overwritten it is gone!</a:t>
            </a:r>
          </a:p>
        </p:txBody>
      </p:sp>
    </p:spTree>
    <p:extLst>
      <p:ext uri="{BB962C8B-B14F-4D97-AF65-F5344CB8AC3E}">
        <p14:creationId xmlns:p14="http://schemas.microsoft.com/office/powerpoint/2010/main" val="2237274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562C-5D48-35FA-96F0-CB0D27B682B1}"/>
              </a:ext>
            </a:extLst>
          </p:cNvPr>
          <p:cNvSpPr>
            <a:spLocks noGrp="1"/>
          </p:cNvSpPr>
          <p:nvPr>
            <p:ph type="title"/>
          </p:nvPr>
        </p:nvSpPr>
        <p:spPr/>
        <p:txBody>
          <a:bodyPr/>
          <a:lstStyle/>
          <a:p>
            <a:pPr algn="ctr"/>
            <a:r>
              <a:rPr lang="en-US" b="1" dirty="0"/>
              <a:t>Command Line Text Editor</a:t>
            </a:r>
            <a:endParaRPr lang="en-US" dirty="0"/>
          </a:p>
        </p:txBody>
      </p:sp>
      <p:sp>
        <p:nvSpPr>
          <p:cNvPr id="4" name="TextBox 3">
            <a:extLst>
              <a:ext uri="{FF2B5EF4-FFF2-40B4-BE49-F238E27FC236}">
                <a16:creationId xmlns:a16="http://schemas.microsoft.com/office/drawing/2014/main" id="{31E6D8D4-0E3F-D2EA-DD0D-515458C3CB8C}"/>
              </a:ext>
            </a:extLst>
          </p:cNvPr>
          <p:cNvSpPr txBox="1"/>
          <p:nvPr/>
        </p:nvSpPr>
        <p:spPr>
          <a:xfrm>
            <a:off x="2326445" y="1886983"/>
            <a:ext cx="8740947" cy="369332"/>
          </a:xfrm>
          <a:prstGeom prst="rect">
            <a:avLst/>
          </a:prstGeom>
          <a:noFill/>
        </p:spPr>
        <p:txBody>
          <a:bodyPr wrap="square">
            <a:spAutoFit/>
          </a:bodyPr>
          <a:lstStyle/>
          <a:p>
            <a:pPr>
              <a:buNone/>
            </a:pPr>
            <a:r>
              <a:rPr lang="en-US" b="1" dirty="0">
                <a:latin typeface="Courier New" panose="02070309020205020404" pitchFamily="49" charset="0"/>
              </a:rPr>
              <a:t>nano </a:t>
            </a:r>
            <a:r>
              <a:rPr lang="en-US" b="1" dirty="0" err="1">
                <a:latin typeface="Courier New" panose="02070309020205020404" pitchFamily="49" charset="0"/>
              </a:rPr>
              <a:t>file_nano_test.txt</a:t>
            </a:r>
            <a:r>
              <a:rPr lang="en-US" b="1" dirty="0">
                <a:latin typeface="Courier New" panose="02070309020205020404" pitchFamily="49" charset="0"/>
              </a:rPr>
              <a:t>     # Opens file in line for editing</a:t>
            </a:r>
          </a:p>
        </p:txBody>
      </p:sp>
      <p:sp>
        <p:nvSpPr>
          <p:cNvPr id="3" name="TextBox 2">
            <a:extLst>
              <a:ext uri="{FF2B5EF4-FFF2-40B4-BE49-F238E27FC236}">
                <a16:creationId xmlns:a16="http://schemas.microsoft.com/office/drawing/2014/main" id="{531C20BF-1D08-E8C9-49B0-083B315D3E25}"/>
              </a:ext>
            </a:extLst>
          </p:cNvPr>
          <p:cNvSpPr txBox="1"/>
          <p:nvPr/>
        </p:nvSpPr>
        <p:spPr>
          <a:xfrm>
            <a:off x="3776935" y="2402694"/>
            <a:ext cx="4638129" cy="1298882"/>
          </a:xfrm>
          <a:prstGeom prst="rect">
            <a:avLst/>
          </a:prstGeom>
          <a:noFill/>
        </p:spPr>
        <p:txBody>
          <a:bodyPr wrap="none" rtlCol="0">
            <a:spAutoFit/>
          </a:bodyPr>
          <a:lstStyle/>
          <a:p>
            <a:pPr algn="ctr">
              <a:lnSpc>
                <a:spcPct val="150000"/>
              </a:lnSpc>
            </a:pPr>
            <a:r>
              <a:rPr lang="en-US" b="1" dirty="0">
                <a:solidFill>
                  <a:srgbClr val="FF0000"/>
                </a:solidFill>
              </a:rPr>
              <a:t>Navigate with up, left, right, and down keys</a:t>
            </a:r>
          </a:p>
          <a:p>
            <a:pPr algn="ctr">
              <a:lnSpc>
                <a:spcPct val="150000"/>
              </a:lnSpc>
            </a:pPr>
            <a:r>
              <a:rPr lang="en-US" b="1" dirty="0">
                <a:solidFill>
                  <a:srgbClr val="FF0000"/>
                </a:solidFill>
              </a:rPr>
              <a:t>Type as usual</a:t>
            </a:r>
          </a:p>
          <a:p>
            <a:pPr algn="ctr">
              <a:lnSpc>
                <a:spcPct val="150000"/>
              </a:lnSpc>
            </a:pPr>
            <a:r>
              <a:rPr lang="en-US" b="1" dirty="0">
                <a:solidFill>
                  <a:srgbClr val="FF0000"/>
                </a:solidFill>
              </a:rPr>
              <a:t>Exit using CTRL+ X</a:t>
            </a:r>
          </a:p>
        </p:txBody>
      </p:sp>
      <p:pic>
        <p:nvPicPr>
          <p:cNvPr id="9" name="Picture 8" descr="A white rectangular frame with black border&#10;&#10;AI-generated content may be incorrect.">
            <a:extLst>
              <a:ext uri="{FF2B5EF4-FFF2-40B4-BE49-F238E27FC236}">
                <a16:creationId xmlns:a16="http://schemas.microsoft.com/office/drawing/2014/main" id="{BC20A908-35A3-22EC-61EB-C3B6AE8232BC}"/>
              </a:ext>
            </a:extLst>
          </p:cNvPr>
          <p:cNvPicPr>
            <a:picLocks noChangeAspect="1"/>
          </p:cNvPicPr>
          <p:nvPr/>
        </p:nvPicPr>
        <p:blipFill>
          <a:blip r:embed="rId3"/>
          <a:srcRect t="67272" b="10996"/>
          <a:stretch>
            <a:fillRect/>
          </a:stretch>
        </p:blipFill>
        <p:spPr>
          <a:xfrm>
            <a:off x="2209799" y="3848209"/>
            <a:ext cx="7772400" cy="704538"/>
          </a:xfrm>
          <a:prstGeom prst="rect">
            <a:avLst/>
          </a:prstGeom>
        </p:spPr>
      </p:pic>
      <p:pic>
        <p:nvPicPr>
          <p:cNvPr id="10" name="Picture 9" descr="A white screen with black text&#10;&#10;AI-generated content may be incorrect.">
            <a:extLst>
              <a:ext uri="{FF2B5EF4-FFF2-40B4-BE49-F238E27FC236}">
                <a16:creationId xmlns:a16="http://schemas.microsoft.com/office/drawing/2014/main" id="{010FF308-4CF7-184A-2DDF-2AAA16FB07EA}"/>
              </a:ext>
            </a:extLst>
          </p:cNvPr>
          <p:cNvPicPr>
            <a:picLocks noChangeAspect="1"/>
          </p:cNvPicPr>
          <p:nvPr/>
        </p:nvPicPr>
        <p:blipFill>
          <a:blip r:embed="rId4"/>
          <a:srcRect t="65093" b="9012"/>
          <a:stretch>
            <a:fillRect/>
          </a:stretch>
        </p:blipFill>
        <p:spPr>
          <a:xfrm>
            <a:off x="2209799" y="5068712"/>
            <a:ext cx="7772400" cy="839449"/>
          </a:xfrm>
          <a:prstGeom prst="rect">
            <a:avLst/>
          </a:prstGeom>
        </p:spPr>
      </p:pic>
      <p:sp>
        <p:nvSpPr>
          <p:cNvPr id="11" name="TextBox 10">
            <a:extLst>
              <a:ext uri="{FF2B5EF4-FFF2-40B4-BE49-F238E27FC236}">
                <a16:creationId xmlns:a16="http://schemas.microsoft.com/office/drawing/2014/main" id="{9C260AED-7F8E-A1A5-C90B-8635693B41F2}"/>
              </a:ext>
            </a:extLst>
          </p:cNvPr>
          <p:cNvSpPr txBox="1"/>
          <p:nvPr/>
        </p:nvSpPr>
        <p:spPr>
          <a:xfrm>
            <a:off x="1588258" y="4699380"/>
            <a:ext cx="9015481" cy="369332"/>
          </a:xfrm>
          <a:prstGeom prst="rect">
            <a:avLst/>
          </a:prstGeom>
          <a:noFill/>
        </p:spPr>
        <p:txBody>
          <a:bodyPr wrap="none" rtlCol="0">
            <a:spAutoFit/>
          </a:bodyPr>
          <a:lstStyle/>
          <a:p>
            <a:r>
              <a:rPr lang="en-US" b="1" dirty="0">
                <a:solidFill>
                  <a:srgbClr val="FF0000"/>
                </a:solidFill>
              </a:rPr>
              <a:t>The above message will appear because you made changes, click Y on your keyboard</a:t>
            </a:r>
          </a:p>
        </p:txBody>
      </p:sp>
      <p:sp>
        <p:nvSpPr>
          <p:cNvPr id="12" name="TextBox 11">
            <a:extLst>
              <a:ext uri="{FF2B5EF4-FFF2-40B4-BE49-F238E27FC236}">
                <a16:creationId xmlns:a16="http://schemas.microsoft.com/office/drawing/2014/main" id="{ACC9D282-3EEA-764B-28B3-F726DEBCCE7F}"/>
              </a:ext>
            </a:extLst>
          </p:cNvPr>
          <p:cNvSpPr txBox="1"/>
          <p:nvPr/>
        </p:nvSpPr>
        <p:spPr>
          <a:xfrm>
            <a:off x="892905" y="6088919"/>
            <a:ext cx="10975953" cy="369332"/>
          </a:xfrm>
          <a:prstGeom prst="rect">
            <a:avLst/>
          </a:prstGeom>
          <a:noFill/>
        </p:spPr>
        <p:txBody>
          <a:bodyPr wrap="none" rtlCol="0">
            <a:spAutoFit/>
          </a:bodyPr>
          <a:lstStyle/>
          <a:p>
            <a:r>
              <a:rPr lang="en-US" b="1" dirty="0">
                <a:solidFill>
                  <a:srgbClr val="FF0000"/>
                </a:solidFill>
              </a:rPr>
              <a:t>It will then ask about the filename you want to save it to, to accept click the ENTER key on your keyboard</a:t>
            </a:r>
          </a:p>
        </p:txBody>
      </p:sp>
    </p:spTree>
    <p:extLst>
      <p:ext uri="{BB962C8B-B14F-4D97-AF65-F5344CB8AC3E}">
        <p14:creationId xmlns:p14="http://schemas.microsoft.com/office/powerpoint/2010/main" val="3336649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C64298-2DC7-BC6B-805D-AF0B7E11D4A4}"/>
              </a:ext>
            </a:extLst>
          </p:cNvPr>
          <p:cNvSpPr txBox="1"/>
          <p:nvPr/>
        </p:nvSpPr>
        <p:spPr>
          <a:xfrm>
            <a:off x="176681" y="566678"/>
            <a:ext cx="5519582" cy="3139321"/>
          </a:xfrm>
          <a:prstGeom prst="rect">
            <a:avLst/>
          </a:prstGeom>
          <a:noFill/>
        </p:spPr>
        <p:txBody>
          <a:bodyPr wrap="square">
            <a:spAutoFit/>
          </a:bodyPr>
          <a:lstStyle/>
          <a:p>
            <a:pPr>
              <a:buNone/>
            </a:pPr>
            <a:r>
              <a:rPr lang="en-US" b="1" dirty="0">
                <a:latin typeface="Courier New" panose="02070309020205020404" pitchFamily="49" charset="0"/>
              </a:rPr>
              <a:t>#!/bin/bash</a:t>
            </a:r>
          </a:p>
          <a:p>
            <a:pPr>
              <a:buNone/>
            </a:pPr>
            <a:r>
              <a:rPr lang="en-US" b="1" dirty="0">
                <a:latin typeface="Courier New" panose="02070309020205020404" pitchFamily="49" charset="0"/>
              </a:rPr>
              <a:t>#SBATCH --partition=normal</a:t>
            </a:r>
          </a:p>
          <a:p>
            <a:pPr>
              <a:buNone/>
            </a:pPr>
            <a:r>
              <a:rPr lang="en-US" b="1" dirty="0">
                <a:latin typeface="Courier New" panose="02070309020205020404" pitchFamily="49" charset="0"/>
              </a:rPr>
              <a:t>#SBATCH --</a:t>
            </a:r>
            <a:r>
              <a:rPr lang="en-US" b="1" dirty="0" err="1">
                <a:latin typeface="Courier New" panose="02070309020205020404" pitchFamily="49" charset="0"/>
              </a:rPr>
              <a:t>ntasks</a:t>
            </a:r>
            <a:r>
              <a:rPr lang="en-US" b="1" dirty="0">
                <a:latin typeface="Courier New" panose="02070309020205020404" pitchFamily="49" charset="0"/>
              </a:rPr>
              <a:t>=1</a:t>
            </a:r>
          </a:p>
          <a:p>
            <a:pPr>
              <a:buNone/>
            </a:pPr>
            <a:r>
              <a:rPr lang="en-US" b="1" dirty="0">
                <a:latin typeface="Courier New" panose="02070309020205020404" pitchFamily="49" charset="0"/>
              </a:rPr>
              <a:t>#SBATCH --mem=1G</a:t>
            </a:r>
          </a:p>
          <a:p>
            <a:pPr>
              <a:buNone/>
            </a:pPr>
            <a:r>
              <a:rPr lang="en-US" b="1" dirty="0">
                <a:latin typeface="Courier New" panose="02070309020205020404" pitchFamily="49" charset="0"/>
              </a:rPr>
              <a:t>#SBATCH --output=jobname_%</a:t>
            </a:r>
            <a:r>
              <a:rPr lang="en-US" b="1" dirty="0" err="1">
                <a:latin typeface="Courier New" panose="02070309020205020404" pitchFamily="49" charset="0"/>
              </a:rPr>
              <a:t>J_stdout.txt</a:t>
            </a:r>
            <a:endParaRPr lang="en-US" b="1" dirty="0">
              <a:latin typeface="Courier New" panose="02070309020205020404" pitchFamily="49" charset="0"/>
            </a:endParaRPr>
          </a:p>
          <a:p>
            <a:pPr>
              <a:buNone/>
            </a:pPr>
            <a:r>
              <a:rPr lang="en-US" b="1" dirty="0">
                <a:latin typeface="Courier New" panose="02070309020205020404" pitchFamily="49" charset="0"/>
              </a:rPr>
              <a:t>#SBATCH --error=jobname_%</a:t>
            </a:r>
            <a:r>
              <a:rPr lang="en-US" b="1" dirty="0" err="1">
                <a:latin typeface="Courier New" panose="02070309020205020404" pitchFamily="49" charset="0"/>
              </a:rPr>
              <a:t>J_stderr.txt</a:t>
            </a:r>
            <a:endParaRPr lang="en-US" b="1" dirty="0">
              <a:latin typeface="Courier New" panose="02070309020205020404" pitchFamily="49" charset="0"/>
            </a:endParaRPr>
          </a:p>
          <a:p>
            <a:pPr>
              <a:buNone/>
            </a:pPr>
            <a:r>
              <a:rPr lang="en-US" b="1" dirty="0">
                <a:latin typeface="Courier New" panose="02070309020205020404" pitchFamily="49" charset="0"/>
              </a:rPr>
              <a:t>#SBATCH --time=1:00:00</a:t>
            </a:r>
          </a:p>
          <a:p>
            <a:pPr>
              <a:buNone/>
            </a:pPr>
            <a:r>
              <a:rPr lang="en-US" b="1" dirty="0">
                <a:latin typeface="Courier New" panose="02070309020205020404" pitchFamily="49" charset="0"/>
              </a:rPr>
              <a:t>#SBATCH --job-name=jobname</a:t>
            </a:r>
          </a:p>
          <a:p>
            <a:pPr>
              <a:buNone/>
            </a:pPr>
            <a:r>
              <a:rPr lang="en-US" b="1" dirty="0">
                <a:latin typeface="Courier New" panose="02070309020205020404" pitchFamily="49" charset="0"/>
              </a:rPr>
              <a:t>#SBATCH --mail-user=</a:t>
            </a:r>
            <a:r>
              <a:rPr lang="en-US" b="1" dirty="0" err="1">
                <a:latin typeface="Courier New" panose="02070309020205020404" pitchFamily="49" charset="0"/>
              </a:rPr>
              <a:t>EMAIL@ou.edu</a:t>
            </a:r>
            <a:endParaRPr lang="en-US" b="1" dirty="0">
              <a:latin typeface="Courier New" panose="02070309020205020404" pitchFamily="49" charset="0"/>
            </a:endParaRPr>
          </a:p>
          <a:p>
            <a:pPr>
              <a:buNone/>
            </a:pPr>
            <a:r>
              <a:rPr lang="en-US" b="1" dirty="0">
                <a:latin typeface="Courier New" panose="02070309020205020404" pitchFamily="49" charset="0"/>
              </a:rPr>
              <a:t>#SBATCH --mail-type=ALL</a:t>
            </a:r>
          </a:p>
          <a:p>
            <a:pPr>
              <a:buNone/>
            </a:pPr>
            <a:r>
              <a:rPr lang="en-US" b="1" dirty="0">
                <a:latin typeface="Courier New" panose="02070309020205020404" pitchFamily="49" charset="0"/>
              </a:rPr>
              <a:t>#SBATCH --</a:t>
            </a:r>
            <a:r>
              <a:rPr lang="en-US" b="1" dirty="0" err="1">
                <a:latin typeface="Courier New" panose="02070309020205020404" pitchFamily="49" charset="0"/>
              </a:rPr>
              <a:t>chdir</a:t>
            </a:r>
            <a:r>
              <a:rPr lang="en-US" b="1" dirty="0">
                <a:latin typeface="Courier New" panose="02070309020205020404" pitchFamily="49" charset="0"/>
              </a:rPr>
              <a:t>=/home/$USER</a:t>
            </a:r>
          </a:p>
        </p:txBody>
      </p:sp>
      <p:sp>
        <p:nvSpPr>
          <p:cNvPr id="3" name="TextBox 2">
            <a:extLst>
              <a:ext uri="{FF2B5EF4-FFF2-40B4-BE49-F238E27FC236}">
                <a16:creationId xmlns:a16="http://schemas.microsoft.com/office/drawing/2014/main" id="{3C5DF839-A831-A765-A5F2-EC21A4C9032B}"/>
              </a:ext>
            </a:extLst>
          </p:cNvPr>
          <p:cNvSpPr txBox="1"/>
          <p:nvPr/>
        </p:nvSpPr>
        <p:spPr>
          <a:xfrm>
            <a:off x="5241562" y="520512"/>
            <a:ext cx="3162923" cy="369332"/>
          </a:xfrm>
          <a:prstGeom prst="rect">
            <a:avLst/>
          </a:prstGeom>
          <a:noFill/>
        </p:spPr>
        <p:txBody>
          <a:bodyPr wrap="square">
            <a:spAutoFit/>
          </a:bodyPr>
          <a:lstStyle/>
          <a:p>
            <a:pPr algn="ctr"/>
            <a:r>
              <a:rPr lang="en-US" b="1" dirty="0">
                <a:solidFill>
                  <a:srgbClr val="FF0000"/>
                </a:solidFill>
              </a:rPr>
              <a:t>#SBATCH Directives</a:t>
            </a:r>
          </a:p>
        </p:txBody>
      </p:sp>
      <p:sp>
        <p:nvSpPr>
          <p:cNvPr id="6" name="TextBox 5">
            <a:extLst>
              <a:ext uri="{FF2B5EF4-FFF2-40B4-BE49-F238E27FC236}">
                <a16:creationId xmlns:a16="http://schemas.microsoft.com/office/drawing/2014/main" id="{4CB2D063-1D1C-81AF-4200-75755A4381FA}"/>
              </a:ext>
            </a:extLst>
          </p:cNvPr>
          <p:cNvSpPr txBox="1"/>
          <p:nvPr/>
        </p:nvSpPr>
        <p:spPr>
          <a:xfrm>
            <a:off x="176681" y="4167664"/>
            <a:ext cx="11508855" cy="2308324"/>
          </a:xfrm>
          <a:prstGeom prst="rect">
            <a:avLst/>
          </a:prstGeom>
          <a:noFill/>
        </p:spPr>
        <p:txBody>
          <a:bodyPr wrap="square">
            <a:spAutoFit/>
          </a:bodyPr>
          <a:lstStyle/>
          <a:p>
            <a:pPr>
              <a:buNone/>
            </a:pPr>
            <a:r>
              <a:rPr lang="en-US" b="1" dirty="0">
                <a:latin typeface="Courier New" panose="02070309020205020404" pitchFamily="49" charset="0"/>
              </a:rPr>
              <a:t>#==============================================================================</a:t>
            </a:r>
          </a:p>
          <a:p>
            <a:pPr>
              <a:buNone/>
            </a:pPr>
            <a:r>
              <a:rPr lang="en-US" b="1" dirty="0">
                <a:latin typeface="Courier New" panose="02070309020205020404" pitchFamily="49" charset="0"/>
              </a:rPr>
              <a:t># BASH Strict mode (i.e. "fail fast" to reduce hard-to-find bugs)</a:t>
            </a:r>
          </a:p>
          <a:p>
            <a:pPr>
              <a:buNone/>
            </a:pPr>
            <a:r>
              <a:rPr lang="en-US" b="1" dirty="0">
                <a:latin typeface="Courier New" panose="02070309020205020404" pitchFamily="49" charset="0"/>
              </a:rPr>
              <a:t>set -e          # EXIT the script if any command returns non-zero exit status.</a:t>
            </a:r>
          </a:p>
          <a:p>
            <a:pPr>
              <a:buNone/>
            </a:pPr>
            <a:r>
              <a:rPr lang="en-US" b="1" dirty="0">
                <a:latin typeface="Courier New" panose="02070309020205020404" pitchFamily="49" charset="0"/>
              </a:rPr>
              <a:t>set -E          # Make ERR trapping work inside functions too.</a:t>
            </a:r>
          </a:p>
          <a:p>
            <a:pPr>
              <a:buNone/>
            </a:pPr>
            <a:r>
              <a:rPr lang="en-US" b="1" dirty="0">
                <a:latin typeface="Courier New" panose="02070309020205020404" pitchFamily="49" charset="0"/>
              </a:rPr>
              <a:t>set -u          # Variables must be pre-defined before using them.</a:t>
            </a:r>
          </a:p>
          <a:p>
            <a:pPr>
              <a:buNone/>
            </a:pPr>
            <a:r>
              <a:rPr lang="en-US" b="1" dirty="0">
                <a:latin typeface="Courier New" panose="02070309020205020404" pitchFamily="49" charset="0"/>
              </a:rPr>
              <a:t>set -o </a:t>
            </a:r>
            <a:r>
              <a:rPr lang="en-US" b="1" dirty="0" err="1">
                <a:latin typeface="Courier New" panose="02070309020205020404" pitchFamily="49" charset="0"/>
              </a:rPr>
              <a:t>pipefail</a:t>
            </a:r>
            <a:r>
              <a:rPr lang="en-US" b="1" dirty="0">
                <a:latin typeface="Courier New" panose="02070309020205020404" pitchFamily="49" charset="0"/>
              </a:rPr>
              <a:t> # If a pipe fails, returns the error code for the failed pipe</a:t>
            </a:r>
          </a:p>
          <a:p>
            <a:pPr>
              <a:buNone/>
            </a:pPr>
            <a:r>
              <a:rPr lang="en-US" b="1" dirty="0">
                <a:latin typeface="Courier New" panose="02070309020205020404" pitchFamily="49" charset="0"/>
              </a:rPr>
              <a:t>                #  even if it isn't the last command in a series of pipes.</a:t>
            </a:r>
          </a:p>
          <a:p>
            <a:pPr>
              <a:buNone/>
            </a:pPr>
            <a:r>
              <a:rPr lang="en-US" b="1" dirty="0">
                <a:latin typeface="Courier New" panose="02070309020205020404" pitchFamily="49" charset="0"/>
              </a:rPr>
              <a:t>#==============================================================================</a:t>
            </a:r>
          </a:p>
        </p:txBody>
      </p:sp>
      <p:sp>
        <p:nvSpPr>
          <p:cNvPr id="7" name="TextBox 6">
            <a:extLst>
              <a:ext uri="{FF2B5EF4-FFF2-40B4-BE49-F238E27FC236}">
                <a16:creationId xmlns:a16="http://schemas.microsoft.com/office/drawing/2014/main" id="{A33D7B1A-F8B1-6F75-F0FA-9247166B5DB6}"/>
              </a:ext>
            </a:extLst>
          </p:cNvPr>
          <p:cNvSpPr txBox="1"/>
          <p:nvPr/>
        </p:nvSpPr>
        <p:spPr>
          <a:xfrm>
            <a:off x="5696263" y="843677"/>
            <a:ext cx="7015397" cy="2862322"/>
          </a:xfrm>
          <a:prstGeom prst="rect">
            <a:avLst/>
          </a:prstGeom>
          <a:noFill/>
        </p:spPr>
        <p:txBody>
          <a:bodyPr wrap="square" rtlCol="0">
            <a:spAutoFit/>
          </a:bodyPr>
          <a:lstStyle/>
          <a:p>
            <a:r>
              <a:rPr lang="en-US" dirty="0">
                <a:solidFill>
                  <a:srgbClr val="FF0000"/>
                </a:solidFill>
              </a:rPr>
              <a:t>Where to send your job</a:t>
            </a:r>
          </a:p>
          <a:p>
            <a:r>
              <a:rPr lang="en-US" dirty="0">
                <a:solidFill>
                  <a:srgbClr val="FF0000"/>
                </a:solidFill>
              </a:rPr>
              <a:t>Number of tasks</a:t>
            </a:r>
          </a:p>
          <a:p>
            <a:r>
              <a:rPr lang="en-US" dirty="0">
                <a:solidFill>
                  <a:srgbClr val="FF0000"/>
                </a:solidFill>
              </a:rPr>
              <a:t>Memory needed</a:t>
            </a:r>
          </a:p>
          <a:p>
            <a:r>
              <a:rPr lang="en-US" dirty="0">
                <a:solidFill>
                  <a:srgbClr val="FF0000"/>
                </a:solidFill>
              </a:rPr>
              <a:t>Output file name</a:t>
            </a:r>
          </a:p>
          <a:p>
            <a:r>
              <a:rPr lang="en-US" dirty="0">
                <a:solidFill>
                  <a:srgbClr val="FF0000"/>
                </a:solidFill>
              </a:rPr>
              <a:t>Error file name</a:t>
            </a:r>
          </a:p>
          <a:p>
            <a:r>
              <a:rPr lang="en-US" dirty="0">
                <a:solidFill>
                  <a:srgbClr val="FF0000"/>
                </a:solidFill>
              </a:rPr>
              <a:t>Time limit</a:t>
            </a:r>
          </a:p>
          <a:p>
            <a:r>
              <a:rPr lang="en-US" dirty="0">
                <a:solidFill>
                  <a:srgbClr val="FF0000"/>
                </a:solidFill>
              </a:rPr>
              <a:t>Job name</a:t>
            </a:r>
          </a:p>
          <a:p>
            <a:r>
              <a:rPr lang="en-US" dirty="0">
                <a:solidFill>
                  <a:srgbClr val="FF0000"/>
                </a:solidFill>
              </a:rPr>
              <a:t>Email to send updates to,</a:t>
            </a:r>
            <a:r>
              <a:rPr lang="en-US" b="1" dirty="0">
                <a:solidFill>
                  <a:srgbClr val="FF0000"/>
                </a:solidFill>
              </a:rPr>
              <a:t> PLEASE REMEMBER TO PUT YOURS</a:t>
            </a:r>
          </a:p>
          <a:p>
            <a:r>
              <a:rPr lang="en-US" dirty="0">
                <a:solidFill>
                  <a:srgbClr val="FF0000"/>
                </a:solidFill>
              </a:rPr>
              <a:t>All notifications</a:t>
            </a:r>
          </a:p>
          <a:p>
            <a:r>
              <a:rPr lang="en-US" dirty="0">
                <a:solidFill>
                  <a:srgbClr val="FF0000"/>
                </a:solidFill>
              </a:rPr>
              <a:t>Working directory of the job</a:t>
            </a:r>
          </a:p>
        </p:txBody>
      </p:sp>
    </p:spTree>
    <p:extLst>
      <p:ext uri="{BB962C8B-B14F-4D97-AF65-F5344CB8AC3E}">
        <p14:creationId xmlns:p14="http://schemas.microsoft.com/office/powerpoint/2010/main" val="1485243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23ADE-2B9F-65EA-51D5-156972D765DB}"/>
              </a:ext>
            </a:extLst>
          </p:cNvPr>
          <p:cNvSpPr>
            <a:spLocks noGrp="1"/>
          </p:cNvSpPr>
          <p:nvPr>
            <p:ph type="title"/>
          </p:nvPr>
        </p:nvSpPr>
        <p:spPr/>
        <p:txBody>
          <a:bodyPr/>
          <a:lstStyle/>
          <a:p>
            <a:r>
              <a:rPr lang="en-US" b="1" dirty="0"/>
              <a:t>Quick Exercise</a:t>
            </a:r>
          </a:p>
        </p:txBody>
      </p:sp>
      <p:sp>
        <p:nvSpPr>
          <p:cNvPr id="5" name="Text Placeholder 4">
            <a:extLst>
              <a:ext uri="{FF2B5EF4-FFF2-40B4-BE49-F238E27FC236}">
                <a16:creationId xmlns:a16="http://schemas.microsoft.com/office/drawing/2014/main" id="{D31BA4AA-EB7B-4273-98FA-A0AD76B909C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9885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091D94-2D35-8C12-DA01-DDE7643D8577}"/>
              </a:ext>
            </a:extLst>
          </p:cNvPr>
          <p:cNvSpPr txBox="1"/>
          <p:nvPr/>
        </p:nvSpPr>
        <p:spPr>
          <a:xfrm>
            <a:off x="3527027" y="3907668"/>
            <a:ext cx="3246081" cy="461665"/>
          </a:xfrm>
          <a:prstGeom prst="rect">
            <a:avLst/>
          </a:prstGeom>
          <a:noFill/>
        </p:spPr>
        <p:txBody>
          <a:bodyPr wrap="none" rtlCol="0">
            <a:spAutoFit/>
          </a:bodyPr>
          <a:lstStyle/>
          <a:p>
            <a:r>
              <a:rPr lang="en-US" sz="2400" b="1" dirty="0"/>
              <a:t>nano </a:t>
            </a:r>
            <a:r>
              <a:rPr lang="en-US" sz="2400" b="1" dirty="0" err="1"/>
              <a:t>first_exercise.sh</a:t>
            </a:r>
            <a:endParaRPr lang="en-US" sz="2400" b="1" dirty="0"/>
          </a:p>
        </p:txBody>
      </p:sp>
      <p:sp>
        <p:nvSpPr>
          <p:cNvPr id="5" name="TextBox 4">
            <a:extLst>
              <a:ext uri="{FF2B5EF4-FFF2-40B4-BE49-F238E27FC236}">
                <a16:creationId xmlns:a16="http://schemas.microsoft.com/office/drawing/2014/main" id="{EE44CDB1-EAB8-02D8-D390-00A995000147}"/>
              </a:ext>
            </a:extLst>
          </p:cNvPr>
          <p:cNvSpPr txBox="1"/>
          <p:nvPr/>
        </p:nvSpPr>
        <p:spPr>
          <a:xfrm>
            <a:off x="3527027" y="2088847"/>
            <a:ext cx="774956" cy="461665"/>
          </a:xfrm>
          <a:prstGeom prst="rect">
            <a:avLst/>
          </a:prstGeom>
          <a:noFill/>
        </p:spPr>
        <p:txBody>
          <a:bodyPr wrap="none" rtlCol="0">
            <a:spAutoFit/>
          </a:bodyPr>
          <a:lstStyle/>
          <a:p>
            <a:r>
              <a:rPr lang="en-US" sz="2400" b="1" dirty="0" err="1"/>
              <a:t>pwd</a:t>
            </a:r>
            <a:endParaRPr lang="en-US" sz="2400" b="1" dirty="0"/>
          </a:p>
        </p:txBody>
      </p:sp>
      <p:sp>
        <p:nvSpPr>
          <p:cNvPr id="6" name="TextBox 5">
            <a:extLst>
              <a:ext uri="{FF2B5EF4-FFF2-40B4-BE49-F238E27FC236}">
                <a16:creationId xmlns:a16="http://schemas.microsoft.com/office/drawing/2014/main" id="{2EC3C11F-0F9D-CD48-C744-44C71637900C}"/>
              </a:ext>
            </a:extLst>
          </p:cNvPr>
          <p:cNvSpPr txBox="1"/>
          <p:nvPr/>
        </p:nvSpPr>
        <p:spPr>
          <a:xfrm>
            <a:off x="1304878" y="2088846"/>
            <a:ext cx="1930657" cy="461665"/>
          </a:xfrm>
          <a:prstGeom prst="rect">
            <a:avLst/>
          </a:prstGeom>
          <a:noFill/>
        </p:spPr>
        <p:txBody>
          <a:bodyPr wrap="none" rtlCol="0">
            <a:spAutoFit/>
          </a:bodyPr>
          <a:lstStyle/>
          <a:p>
            <a:r>
              <a:rPr lang="en-US" sz="2400" dirty="0"/>
              <a:t>Run this first:</a:t>
            </a:r>
          </a:p>
        </p:txBody>
      </p:sp>
      <p:sp>
        <p:nvSpPr>
          <p:cNvPr id="7" name="TextBox 6">
            <a:extLst>
              <a:ext uri="{FF2B5EF4-FFF2-40B4-BE49-F238E27FC236}">
                <a16:creationId xmlns:a16="http://schemas.microsoft.com/office/drawing/2014/main" id="{D1612B81-862C-CE3F-0996-8C7419EEDE40}"/>
              </a:ext>
            </a:extLst>
          </p:cNvPr>
          <p:cNvSpPr txBox="1"/>
          <p:nvPr/>
        </p:nvSpPr>
        <p:spPr>
          <a:xfrm>
            <a:off x="5150067" y="2088845"/>
            <a:ext cx="6488764" cy="461665"/>
          </a:xfrm>
          <a:prstGeom prst="rect">
            <a:avLst/>
          </a:prstGeom>
          <a:noFill/>
        </p:spPr>
        <p:txBody>
          <a:bodyPr wrap="none" rtlCol="0">
            <a:spAutoFit/>
          </a:bodyPr>
          <a:lstStyle/>
          <a:p>
            <a:r>
              <a:rPr lang="en-US" sz="2400" b="1" dirty="0">
                <a:solidFill>
                  <a:srgbClr val="FF0000"/>
                </a:solidFill>
              </a:rPr>
              <a:t>Make sure you are in /scratch/user/lecture_2!</a:t>
            </a:r>
          </a:p>
        </p:txBody>
      </p:sp>
      <p:sp>
        <p:nvSpPr>
          <p:cNvPr id="8" name="TextBox 7">
            <a:extLst>
              <a:ext uri="{FF2B5EF4-FFF2-40B4-BE49-F238E27FC236}">
                <a16:creationId xmlns:a16="http://schemas.microsoft.com/office/drawing/2014/main" id="{75265B1A-6288-F8D2-EB4A-A4BA1924D8AE}"/>
              </a:ext>
            </a:extLst>
          </p:cNvPr>
          <p:cNvSpPr txBox="1"/>
          <p:nvPr/>
        </p:nvSpPr>
        <p:spPr>
          <a:xfrm>
            <a:off x="1677095" y="3907669"/>
            <a:ext cx="1558440" cy="461665"/>
          </a:xfrm>
          <a:prstGeom prst="rect">
            <a:avLst/>
          </a:prstGeom>
          <a:noFill/>
        </p:spPr>
        <p:txBody>
          <a:bodyPr wrap="none" rtlCol="0">
            <a:spAutoFit/>
          </a:bodyPr>
          <a:lstStyle/>
          <a:p>
            <a:r>
              <a:rPr lang="en-US" sz="2400" dirty="0"/>
              <a:t>Then type:</a:t>
            </a:r>
          </a:p>
        </p:txBody>
      </p:sp>
    </p:spTree>
    <p:extLst>
      <p:ext uri="{BB962C8B-B14F-4D97-AF65-F5344CB8AC3E}">
        <p14:creationId xmlns:p14="http://schemas.microsoft.com/office/powerpoint/2010/main" val="126836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086DB3-8CD9-1121-7F3B-5B9B7C598473}"/>
              </a:ext>
            </a:extLst>
          </p:cNvPr>
          <p:cNvSpPr txBox="1"/>
          <p:nvPr/>
        </p:nvSpPr>
        <p:spPr>
          <a:xfrm>
            <a:off x="602456" y="335845"/>
            <a:ext cx="10987088" cy="6186309"/>
          </a:xfrm>
          <a:prstGeom prst="rect">
            <a:avLst/>
          </a:prstGeom>
          <a:noFill/>
        </p:spPr>
        <p:txBody>
          <a:bodyPr wrap="square">
            <a:spAutoFit/>
          </a:bodyPr>
          <a:lstStyle/>
          <a:p>
            <a:r>
              <a:rPr lang="en-US" b="1" dirty="0"/>
              <a:t>#!/bin/bash</a:t>
            </a:r>
          </a:p>
          <a:p>
            <a:r>
              <a:rPr lang="en-US" b="1" dirty="0"/>
              <a:t>#SBATCH --partition=normal</a:t>
            </a:r>
          </a:p>
          <a:p>
            <a:r>
              <a:rPr lang="en-US" b="1" dirty="0"/>
              <a:t>#SBATCH --</a:t>
            </a:r>
            <a:r>
              <a:rPr lang="en-US" b="1" dirty="0" err="1"/>
              <a:t>ntasks</a:t>
            </a:r>
            <a:r>
              <a:rPr lang="en-US" b="1" dirty="0"/>
              <a:t>=1</a:t>
            </a:r>
          </a:p>
          <a:p>
            <a:r>
              <a:rPr lang="en-US" b="1" dirty="0"/>
              <a:t>#SBATCH --mem=1G</a:t>
            </a:r>
          </a:p>
          <a:p>
            <a:r>
              <a:rPr lang="en-US" b="1" dirty="0"/>
              <a:t>#SBATCH --output=</a:t>
            </a:r>
            <a:r>
              <a:rPr lang="en-US" b="1" dirty="0" err="1"/>
              <a:t>firstJob</a:t>
            </a:r>
            <a:r>
              <a:rPr lang="en-US" b="1" dirty="0"/>
              <a:t>_%</a:t>
            </a:r>
            <a:r>
              <a:rPr lang="en-US" b="1" dirty="0" err="1"/>
              <a:t>J_stdout.txt</a:t>
            </a:r>
            <a:endParaRPr lang="en-US" b="1" dirty="0"/>
          </a:p>
          <a:p>
            <a:r>
              <a:rPr lang="en-US" b="1" dirty="0"/>
              <a:t>#SBATCH --error= </a:t>
            </a:r>
            <a:r>
              <a:rPr lang="en-US" b="1" dirty="0" err="1"/>
              <a:t>firstJob</a:t>
            </a:r>
            <a:r>
              <a:rPr lang="en-US" b="1" dirty="0"/>
              <a:t> _%</a:t>
            </a:r>
            <a:r>
              <a:rPr lang="en-US" b="1" dirty="0" err="1"/>
              <a:t>J_stderr.txt</a:t>
            </a:r>
            <a:endParaRPr lang="en-US" b="1" dirty="0"/>
          </a:p>
          <a:p>
            <a:r>
              <a:rPr lang="en-US" b="1" dirty="0"/>
              <a:t>#SBATCH --time=1:00:00</a:t>
            </a:r>
          </a:p>
          <a:p>
            <a:r>
              <a:rPr lang="en-US" b="1" dirty="0"/>
              <a:t>#SBATCH --job-name=jobname</a:t>
            </a:r>
          </a:p>
          <a:p>
            <a:r>
              <a:rPr lang="en-US" b="1" dirty="0"/>
              <a:t>#SBATCH --mail-user=</a:t>
            </a:r>
            <a:r>
              <a:rPr lang="en-US" b="1" dirty="0" err="1">
                <a:solidFill>
                  <a:srgbClr val="FF0000"/>
                </a:solidFill>
              </a:rPr>
              <a:t>EMAIL@ou.edu</a:t>
            </a:r>
            <a:endParaRPr lang="en-US" b="1" dirty="0">
              <a:solidFill>
                <a:srgbClr val="FF0000"/>
              </a:solidFill>
            </a:endParaRPr>
          </a:p>
          <a:p>
            <a:r>
              <a:rPr lang="en-US" b="1" dirty="0"/>
              <a:t>#SBATCH --mail-type=ALL</a:t>
            </a:r>
          </a:p>
          <a:p>
            <a:r>
              <a:rPr lang="en-US" b="1" dirty="0"/>
              <a:t>#SBATCH --</a:t>
            </a:r>
            <a:r>
              <a:rPr lang="en-US" b="1" dirty="0" err="1"/>
              <a:t>chdir</a:t>
            </a:r>
            <a:r>
              <a:rPr lang="en-US" b="1" dirty="0"/>
              <a:t>=/scratch/$USER</a:t>
            </a:r>
          </a:p>
          <a:p>
            <a:endParaRPr lang="en-US" b="1" dirty="0"/>
          </a:p>
          <a:p>
            <a:r>
              <a:rPr lang="en-US" b="1" dirty="0"/>
              <a:t>#==============================================================================</a:t>
            </a:r>
          </a:p>
          <a:p>
            <a:r>
              <a:rPr lang="en-US" b="1" dirty="0"/>
              <a:t># BASH Strict mode (i.e. "fail fast" to reduce hard-to-find bugs)</a:t>
            </a:r>
          </a:p>
          <a:p>
            <a:r>
              <a:rPr lang="en-US" b="1" dirty="0"/>
              <a:t>set -e          # EXIT the script if any command returns non-zero exit status.</a:t>
            </a:r>
          </a:p>
          <a:p>
            <a:r>
              <a:rPr lang="en-US" b="1" dirty="0"/>
              <a:t>set -E          # Make ERR trapping work inside functions too.</a:t>
            </a:r>
          </a:p>
          <a:p>
            <a:r>
              <a:rPr lang="en-US" b="1" dirty="0"/>
              <a:t>set -u          # Variables must be pre-defined before using them.</a:t>
            </a:r>
          </a:p>
          <a:p>
            <a:r>
              <a:rPr lang="en-US" b="1" dirty="0"/>
              <a:t>set -o </a:t>
            </a:r>
            <a:r>
              <a:rPr lang="en-US" b="1" dirty="0" err="1"/>
              <a:t>pipefail</a:t>
            </a:r>
            <a:r>
              <a:rPr lang="en-US" b="1" dirty="0"/>
              <a:t>  # If a pipe fails, returns the error code for the failed pipe</a:t>
            </a:r>
          </a:p>
          <a:p>
            <a:r>
              <a:rPr lang="en-US" b="1" dirty="0"/>
              <a:t>                #  even if it isn't the last command in a series of pipes.</a:t>
            </a:r>
          </a:p>
          <a:p>
            <a:r>
              <a:rPr lang="en-US" b="1" dirty="0"/>
              <a:t>#==============================================================================</a:t>
            </a:r>
          </a:p>
          <a:p>
            <a:endParaRPr lang="en-US" b="1" dirty="0"/>
          </a:p>
          <a:p>
            <a:r>
              <a:rPr lang="en-US" b="1" dirty="0"/>
              <a:t>echo "Hello World!" &gt; </a:t>
            </a:r>
            <a:r>
              <a:rPr lang="en-US" b="1" dirty="0" err="1"/>
              <a:t>helloWorld.txt</a:t>
            </a:r>
            <a:endParaRPr lang="en-US" b="1" dirty="0"/>
          </a:p>
        </p:txBody>
      </p:sp>
      <p:cxnSp>
        <p:nvCxnSpPr>
          <p:cNvPr id="7" name="Straight Arrow Connector 6">
            <a:extLst>
              <a:ext uri="{FF2B5EF4-FFF2-40B4-BE49-F238E27FC236}">
                <a16:creationId xmlns:a16="http://schemas.microsoft.com/office/drawing/2014/main" id="{BF445DAC-8EB2-9DDE-0BE5-F7CB05DE2D28}"/>
              </a:ext>
            </a:extLst>
          </p:cNvPr>
          <p:cNvCxnSpPr>
            <a:cxnSpLocks/>
          </p:cNvCxnSpPr>
          <p:nvPr/>
        </p:nvCxnSpPr>
        <p:spPr>
          <a:xfrm flipH="1">
            <a:off x="4572000" y="1876096"/>
            <a:ext cx="685025" cy="725214"/>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76B459A-76C4-0166-7694-F740B3FC355D}"/>
              </a:ext>
            </a:extLst>
          </p:cNvPr>
          <p:cNvSpPr txBox="1"/>
          <p:nvPr/>
        </p:nvSpPr>
        <p:spPr>
          <a:xfrm>
            <a:off x="5257025" y="1506764"/>
            <a:ext cx="6934975" cy="369332"/>
          </a:xfrm>
          <a:prstGeom prst="rect">
            <a:avLst/>
          </a:prstGeom>
          <a:noFill/>
        </p:spPr>
        <p:txBody>
          <a:bodyPr wrap="none" rtlCol="0">
            <a:spAutoFit/>
          </a:bodyPr>
          <a:lstStyle/>
          <a:p>
            <a:r>
              <a:rPr lang="en-US" b="1" dirty="0">
                <a:solidFill>
                  <a:srgbClr val="FF0000"/>
                </a:solidFill>
              </a:rPr>
              <a:t>CHANGE THIS TO YOUR EMAIL as in </a:t>
            </a:r>
            <a:r>
              <a:rPr lang="en-US" b="1" dirty="0" err="1">
                <a:solidFill>
                  <a:srgbClr val="FF0000"/>
                </a:solidFill>
              </a:rPr>
              <a:t>firstname-lastname@ou.edu</a:t>
            </a:r>
            <a:endParaRPr lang="en-US" b="1" dirty="0">
              <a:solidFill>
                <a:srgbClr val="FF0000"/>
              </a:solidFill>
            </a:endParaRPr>
          </a:p>
        </p:txBody>
      </p:sp>
      <p:cxnSp>
        <p:nvCxnSpPr>
          <p:cNvPr id="15" name="Straight Arrow Connector 14">
            <a:extLst>
              <a:ext uri="{FF2B5EF4-FFF2-40B4-BE49-F238E27FC236}">
                <a16:creationId xmlns:a16="http://schemas.microsoft.com/office/drawing/2014/main" id="{14B52B84-F3A5-75D3-4986-5BC7AB246341}"/>
              </a:ext>
            </a:extLst>
          </p:cNvPr>
          <p:cNvCxnSpPr>
            <a:cxnSpLocks/>
          </p:cNvCxnSpPr>
          <p:nvPr/>
        </p:nvCxnSpPr>
        <p:spPr>
          <a:xfrm flipH="1">
            <a:off x="2853559" y="6069724"/>
            <a:ext cx="1718441" cy="20495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A96BC62-78D7-FBA9-B925-F7AC7A0870D7}"/>
              </a:ext>
            </a:extLst>
          </p:cNvPr>
          <p:cNvSpPr txBox="1"/>
          <p:nvPr/>
        </p:nvSpPr>
        <p:spPr>
          <a:xfrm>
            <a:off x="4713890" y="5885058"/>
            <a:ext cx="3058658" cy="369332"/>
          </a:xfrm>
          <a:prstGeom prst="rect">
            <a:avLst/>
          </a:prstGeom>
          <a:noFill/>
        </p:spPr>
        <p:txBody>
          <a:bodyPr wrap="none" rtlCol="0">
            <a:spAutoFit/>
          </a:bodyPr>
          <a:lstStyle/>
          <a:p>
            <a:r>
              <a:rPr lang="en-US" b="1" dirty="0">
                <a:solidFill>
                  <a:srgbClr val="FF0000"/>
                </a:solidFill>
              </a:rPr>
              <a:t>&gt; redirects output into a file</a:t>
            </a:r>
          </a:p>
        </p:txBody>
      </p:sp>
    </p:spTree>
    <p:extLst>
      <p:ext uri="{BB962C8B-B14F-4D97-AF65-F5344CB8AC3E}">
        <p14:creationId xmlns:p14="http://schemas.microsoft.com/office/powerpoint/2010/main" val="165451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19362-B5DE-718E-FE9F-6E0234C48F94}"/>
            </a:ext>
          </a:extLst>
        </p:cNvPr>
        <p:cNvGrpSpPr/>
        <p:nvPr/>
      </p:nvGrpSpPr>
      <p:grpSpPr>
        <a:xfrm>
          <a:off x="0" y="0"/>
          <a:ext cx="0" cy="0"/>
          <a:chOff x="0" y="0"/>
          <a:chExt cx="0" cy="0"/>
        </a:xfrm>
      </p:grpSpPr>
      <p:pic>
        <p:nvPicPr>
          <p:cNvPr id="2051" name="Picture 3">
            <a:extLst>
              <a:ext uri="{FF2B5EF4-FFF2-40B4-BE49-F238E27FC236}">
                <a16:creationId xmlns:a16="http://schemas.microsoft.com/office/drawing/2014/main" id="{251C8178-127B-A43E-343D-718FC50B3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925" y="193802"/>
            <a:ext cx="8604250" cy="64703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508429-3515-1CB2-6441-0AEE81C90103}"/>
              </a:ext>
            </a:extLst>
          </p:cNvPr>
          <p:cNvSpPr txBox="1"/>
          <p:nvPr/>
        </p:nvSpPr>
        <p:spPr>
          <a:xfrm>
            <a:off x="9886950" y="6006584"/>
            <a:ext cx="1519583" cy="369332"/>
          </a:xfrm>
          <a:prstGeom prst="rect">
            <a:avLst/>
          </a:prstGeom>
          <a:noFill/>
        </p:spPr>
        <p:txBody>
          <a:bodyPr wrap="none" rtlCol="0">
            <a:spAutoFit/>
          </a:bodyPr>
          <a:lstStyle/>
          <a:p>
            <a:r>
              <a:rPr lang="en-US" b="1" dirty="0">
                <a:solidFill>
                  <a:srgbClr val="FF0000"/>
                </a:solidFill>
              </a:rPr>
              <a:t>You are here </a:t>
            </a:r>
          </a:p>
        </p:txBody>
      </p:sp>
      <p:sp>
        <p:nvSpPr>
          <p:cNvPr id="3" name="TextBox 2">
            <a:extLst>
              <a:ext uri="{FF2B5EF4-FFF2-40B4-BE49-F238E27FC236}">
                <a16:creationId xmlns:a16="http://schemas.microsoft.com/office/drawing/2014/main" id="{BEB78FBB-8FBA-6EDC-09A2-1AA4AED09A2B}"/>
              </a:ext>
            </a:extLst>
          </p:cNvPr>
          <p:cNvSpPr txBox="1"/>
          <p:nvPr/>
        </p:nvSpPr>
        <p:spPr>
          <a:xfrm>
            <a:off x="8515350" y="198305"/>
            <a:ext cx="2046394" cy="369332"/>
          </a:xfrm>
          <a:prstGeom prst="rect">
            <a:avLst/>
          </a:prstGeom>
          <a:noFill/>
        </p:spPr>
        <p:txBody>
          <a:bodyPr wrap="none" rtlCol="0">
            <a:spAutoFit/>
          </a:bodyPr>
          <a:lstStyle/>
          <a:p>
            <a:r>
              <a:rPr lang="en-US" b="1" dirty="0">
                <a:solidFill>
                  <a:srgbClr val="FF0000"/>
                </a:solidFill>
              </a:rPr>
              <a:t>Sending jobs here</a:t>
            </a:r>
          </a:p>
        </p:txBody>
      </p:sp>
      <p:sp>
        <p:nvSpPr>
          <p:cNvPr id="6" name="Bent Arrow 5">
            <a:extLst>
              <a:ext uri="{FF2B5EF4-FFF2-40B4-BE49-F238E27FC236}">
                <a16:creationId xmlns:a16="http://schemas.microsoft.com/office/drawing/2014/main" id="{7F72F416-31F2-0211-1D85-626A0C46ECC2}"/>
              </a:ext>
            </a:extLst>
          </p:cNvPr>
          <p:cNvSpPr/>
          <p:nvPr/>
        </p:nvSpPr>
        <p:spPr>
          <a:xfrm flipH="1">
            <a:off x="9693275" y="5124450"/>
            <a:ext cx="1162050" cy="742950"/>
          </a:xfrm>
          <a:prstGeom prst="ben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Rectangle 1">
            <a:extLst>
              <a:ext uri="{FF2B5EF4-FFF2-40B4-BE49-F238E27FC236}">
                <a16:creationId xmlns:a16="http://schemas.microsoft.com/office/drawing/2014/main" id="{A46E4397-1BC5-1D3C-F2F8-EDBCC3F52C5F}"/>
              </a:ext>
            </a:extLst>
          </p:cNvPr>
          <p:cNvSpPr/>
          <p:nvPr/>
        </p:nvSpPr>
        <p:spPr>
          <a:xfrm>
            <a:off x="4650829" y="3578773"/>
            <a:ext cx="2349062" cy="2522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sooner.oscer.ou.edu</a:t>
            </a:r>
            <a:endParaRPr lang="en-US" sz="1400" b="1" dirty="0">
              <a:solidFill>
                <a:schemeClr val="tx1"/>
              </a:solidFill>
            </a:endParaRPr>
          </a:p>
        </p:txBody>
      </p:sp>
      <p:sp>
        <p:nvSpPr>
          <p:cNvPr id="4" name="Rectangle 3">
            <a:extLst>
              <a:ext uri="{FF2B5EF4-FFF2-40B4-BE49-F238E27FC236}">
                <a16:creationId xmlns:a16="http://schemas.microsoft.com/office/drawing/2014/main" id="{EB7655A8-BC4A-38CB-C97F-8C3C97A55EC0}"/>
              </a:ext>
            </a:extLst>
          </p:cNvPr>
          <p:cNvSpPr/>
          <p:nvPr/>
        </p:nvSpPr>
        <p:spPr>
          <a:xfrm>
            <a:off x="8143875" y="2790497"/>
            <a:ext cx="1905765" cy="1040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Sooner Login Nodes</a:t>
            </a:r>
          </a:p>
          <a:p>
            <a:pPr algn="ctr"/>
            <a:r>
              <a:rPr lang="en-US" sz="1400" dirty="0">
                <a:solidFill>
                  <a:schemeClr val="tx1"/>
                </a:solidFill>
              </a:rPr>
              <a:t>sooner1.oscer.ou.edu</a:t>
            </a:r>
          </a:p>
          <a:p>
            <a:pPr algn="ctr"/>
            <a:r>
              <a:rPr lang="en-US" sz="1400" dirty="0">
                <a:solidFill>
                  <a:schemeClr val="tx1"/>
                </a:solidFill>
              </a:rPr>
              <a:t>sooner2.oscer.ou.edu</a:t>
            </a:r>
          </a:p>
          <a:p>
            <a:pPr algn="ctr"/>
            <a:r>
              <a:rPr lang="en-US" sz="1400" dirty="0">
                <a:solidFill>
                  <a:schemeClr val="tx1"/>
                </a:solidFill>
              </a:rPr>
              <a:t>sooner3.oscer.ou.edu</a:t>
            </a:r>
          </a:p>
          <a:p>
            <a:pPr algn="ctr"/>
            <a:r>
              <a:rPr lang="en-US" sz="1400" dirty="0">
                <a:solidFill>
                  <a:schemeClr val="tx1"/>
                </a:solidFill>
              </a:rPr>
              <a:t>sooner4.oscer.ou.edu</a:t>
            </a:r>
          </a:p>
        </p:txBody>
      </p:sp>
      <p:cxnSp>
        <p:nvCxnSpPr>
          <p:cNvPr id="13" name="Straight Arrow Connector 12">
            <a:extLst>
              <a:ext uri="{FF2B5EF4-FFF2-40B4-BE49-F238E27FC236}">
                <a16:creationId xmlns:a16="http://schemas.microsoft.com/office/drawing/2014/main" id="{5F88B189-34DD-6050-7860-44594E99B510}"/>
              </a:ext>
            </a:extLst>
          </p:cNvPr>
          <p:cNvCxnSpPr>
            <a:cxnSpLocks/>
          </p:cNvCxnSpPr>
          <p:nvPr/>
        </p:nvCxnSpPr>
        <p:spPr>
          <a:xfrm flipH="1" flipV="1">
            <a:off x="7772400" y="1676400"/>
            <a:ext cx="742950" cy="2815709"/>
          </a:xfrm>
          <a:prstGeom prst="straightConnector1">
            <a:avLst/>
          </a:prstGeom>
          <a:ln w="57150">
            <a:solidFill>
              <a:srgbClr val="FF0000"/>
            </a:solidFill>
            <a:prstDash val="sysDash"/>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5367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6991-84D5-9622-8C73-5B005BEFB458}"/>
              </a:ext>
            </a:extLst>
          </p:cNvPr>
          <p:cNvSpPr>
            <a:spLocks noGrp="1"/>
          </p:cNvSpPr>
          <p:nvPr>
            <p:ph type="title"/>
          </p:nvPr>
        </p:nvSpPr>
        <p:spPr/>
        <p:txBody>
          <a:bodyPr/>
          <a:lstStyle/>
          <a:p>
            <a:r>
              <a:rPr lang="en-US" dirty="0"/>
              <a:t>Before you leave today</a:t>
            </a:r>
          </a:p>
        </p:txBody>
      </p:sp>
      <p:sp>
        <p:nvSpPr>
          <p:cNvPr id="3" name="Content Placeholder 2">
            <a:extLst>
              <a:ext uri="{FF2B5EF4-FFF2-40B4-BE49-F238E27FC236}">
                <a16:creationId xmlns:a16="http://schemas.microsoft.com/office/drawing/2014/main" id="{3CC45CBC-5051-B773-7DC5-308E139A6E94}"/>
              </a:ext>
            </a:extLst>
          </p:cNvPr>
          <p:cNvSpPr>
            <a:spLocks noGrp="1"/>
          </p:cNvSpPr>
          <p:nvPr>
            <p:ph idx="1"/>
          </p:nvPr>
        </p:nvSpPr>
        <p:spPr/>
        <p:txBody>
          <a:bodyPr/>
          <a:lstStyle/>
          <a:p>
            <a:r>
              <a:rPr lang="en-US" dirty="0"/>
              <a:t>Have R and </a:t>
            </a:r>
            <a:r>
              <a:rPr lang="en-US" dirty="0" err="1"/>
              <a:t>Rstudio</a:t>
            </a:r>
            <a:r>
              <a:rPr lang="en-US" dirty="0"/>
              <a:t> installed</a:t>
            </a:r>
          </a:p>
          <a:p>
            <a:r>
              <a:rPr lang="en-US"/>
              <a:t>Have JBrowse2 </a:t>
            </a:r>
            <a:r>
              <a:rPr lang="en-US" dirty="0"/>
              <a:t>installed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71068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1025</Words>
  <Application>Microsoft Macintosh PowerPoint</Application>
  <PresentationFormat>Widescreen</PresentationFormat>
  <Paragraphs>161</Paragraphs>
  <Slides>19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Courier New</vt:lpstr>
      <vt:lpstr>Office Theme</vt:lpstr>
      <vt:lpstr>Lecture 2</vt:lpstr>
      <vt:lpstr>Let’s get on the same page</vt:lpstr>
      <vt:lpstr>PowerPoint Presentation</vt:lpstr>
      <vt:lpstr>Let's log into your guest accounts</vt:lpstr>
      <vt:lpstr>PowerPoint Presentation</vt:lpstr>
      <vt:lpstr>PowerPoint Presentation</vt:lpstr>
      <vt:lpstr>BASH Programming</vt:lpstr>
      <vt:lpstr>PowerPoint Presentation</vt:lpstr>
      <vt:lpstr>PowerPoint Presentation</vt:lpstr>
      <vt:lpstr>Navigating Directories</vt:lpstr>
      <vt:lpstr>Creating, Moving, and Deleting Directories</vt:lpstr>
      <vt:lpstr>Deleting, Copying, and Moving Files</vt:lpstr>
      <vt:lpstr>Command Line Text Editor</vt:lpstr>
      <vt:lpstr>PowerPoint Presentation</vt:lpstr>
      <vt:lpstr>Quick Exercise</vt:lpstr>
      <vt:lpstr>PowerPoint Presentation</vt:lpstr>
      <vt:lpstr>PowerPoint Presentation</vt:lpstr>
      <vt:lpstr>PowerPoint Presentation</vt:lpstr>
      <vt:lpstr>Before you leave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Cabello, Eleana   (HSC)</dc:creator>
  <cp:lastModifiedBy>Cabello, Eleana   (HSC)</cp:lastModifiedBy>
  <cp:revision>12</cp:revision>
  <dcterms:created xsi:type="dcterms:W3CDTF">2026-05-22T03:30:54Z</dcterms:created>
  <dcterms:modified xsi:type="dcterms:W3CDTF">2026-05-26T17:36:00Z</dcterms:modified>
</cp:coreProperties>
</file>